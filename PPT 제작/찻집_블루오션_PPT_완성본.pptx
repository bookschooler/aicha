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9144000" cy="3657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1371600"/>
            <a:ext cx="2286000" cy="34747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0" y="2011680"/>
            <a:ext cx="1737360" cy="265176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35240" y="2560320"/>
            <a:ext cx="1371600" cy="2286000"/>
          </a:xfrm>
          <a:prstGeom prst="ellipse">
            <a:avLst/>
          </a:prstGeom>
          <a:solidFill>
            <a:srgbClr val="24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7BC62"/>
                </a:solidFill>
                <a:latin typeface="Calibri"/>
              </a:rPr>
              <a:t>DATA-DRIVEN MARKET ANALYSIS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orgia"/>
              </a:rPr>
              <a:t>서울 찻집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44752"/>
            <a:ext cx="68580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97BC62"/>
                </a:solidFill>
                <a:latin typeface="Georgia"/>
              </a:rPr>
              <a:t>블루오션 상권 </a:t>
            </a:r>
            <a:r>
              <a:rPr sz="4400" b="1">
                <a:solidFill>
                  <a:srgbClr val="FFFFFF"/>
                </a:solidFill>
                <a:latin typeface="Georgia"/>
              </a:rPr>
              <a:t>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76272"/>
            <a:ext cx="7772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0428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4E6D0"/>
                </a:solidFill>
                <a:latin typeface="Calibri"/>
              </a:rPr>
              <a:t>수요-공급 갭 기반 데이터 추천 시스템 구축 및 실증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88920"/>
            <a:ext cx="5943600" cy="1325880"/>
          </a:xfrm>
          <a:prstGeom prst="rect">
            <a:avLst/>
          </a:prstGeom>
          <a:solidFill>
            <a:srgbClr val="243D33"/>
          </a:solidFill>
          <a:ln w="127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401568"/>
            <a:ext cx="5943600" cy="137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2834640"/>
            <a:ext cx="13716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3464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BC62"/>
                </a:solidFill>
                <a:latin typeface="Calibri"/>
              </a:rPr>
              <a:t>DATA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358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서울 1,139개 상권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834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BC62"/>
                </a:solidFill>
                <a:latin typeface="Calibri"/>
              </a:rPr>
              <a:t>TIME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03580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9개 분기 (2023Q3 ~ 2025Q3)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56432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BC62"/>
                </a:solidFill>
                <a:latin typeface="Calibri"/>
              </a:rPr>
              <a:t>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6576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4E6D0"/>
                </a:solidFill>
                <a:latin typeface="Calibri"/>
              </a:rPr>
              <a:t>2-Track Framework  (Demand Prediction + Supply Gap Index)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251960"/>
            <a:ext cx="9144000" cy="548640"/>
          </a:xfrm>
          <a:prstGeom prst="rect">
            <a:avLst/>
          </a:prstGeom>
          <a:solidFill>
            <a:srgbClr val="143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4952" y="4315968"/>
            <a:ext cx="9144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9904" y="4315968"/>
            <a:ext cx="9144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7939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BC62"/>
                </a:solidFill>
                <a:latin typeface="Calibri"/>
              </a:rPr>
              <a:t>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4622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2026. 03. 08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279392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7BC62"/>
                </a:solidFill>
                <a:latin typeface="Calibri"/>
              </a:rPr>
              <a:t>PRESENTER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4622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쏘피 (Sophie)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7939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7BC62"/>
                </a:solidFill>
                <a:latin typeface="Calibri"/>
              </a:rPr>
              <a:t>AFFILIATION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4622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데이터 분석 프로젝트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연구 배경과 핵심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Problem 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1. Problem 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2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85800"/>
            <a:ext cx="118872" cy="11887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5836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2D"/>
                </a:solidFill>
                <a:latin typeface="Calibri"/>
              </a:rPr>
              <a:t>카페 시장의 포화 상태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932688"/>
            <a:ext cx="4480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서울시 카페 점포 수 지속 증가로 인한 경쟁 심화.
단순 '매출 높은 상권' 진입은 레드오션 경쟁을 의미함.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18488"/>
            <a:ext cx="118872" cy="11887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1591056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2D"/>
                </a:solidFill>
                <a:latin typeface="Calibri"/>
              </a:rPr>
              <a:t>기존 상권 분석의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865376"/>
            <a:ext cx="4480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대부분의 분석이 "현재 매출이 높은 곳 = 좋은 곳"으로 귀결.
이미 임대료와 권리금이 상승한 '검증된 포화 시장'만 추천.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51175"/>
            <a:ext cx="118872" cy="11887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523744"/>
            <a:ext cx="4800600" cy="749808"/>
          </a:xfrm>
          <a:prstGeom prst="rect">
            <a:avLst/>
          </a:prstGeom>
          <a:solidFill>
            <a:srgbClr val="E8F4F0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52374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핵심 질문 (Research Question)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798063"/>
            <a:ext cx="4480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"서울 1,139개 상권 중, 잠재 수요는 충분하지만
아직 찻집 공급이 부족한 '블루오션'은 어디인가?"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83863"/>
            <a:ext cx="118872" cy="11887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45643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2D"/>
                </a:solidFill>
                <a:latin typeface="Calibri"/>
              </a:rPr>
              <a:t>접근 방법: 2-Track 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4480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Track A: 시장 수요의 크기와 실현도 예측
Track B: 찻집 특화 공급 부족 지수 산출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621792"/>
            <a:ext cx="333756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80760" y="777240"/>
            <a:ext cx="2194560" cy="219456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024128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1,139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16916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7BC62"/>
                </a:solidFill>
                <a:latin typeface="Calibri"/>
              </a:rPr>
              <a:t>분석 대상 상권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108960"/>
            <a:ext cx="30175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31821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전통적 핫플레이스뿐만 아니라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4015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D6A4F"/>
                </a:solidFill>
                <a:latin typeface="Calibri"/>
              </a:rPr>
              <a:t>숨겨진 골목상권까지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621024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전수 조사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39136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서울시 카페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931920"/>
            <a:ext cx="1828800" cy="1828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9136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0392B"/>
                </a:solidFill>
                <a:latin typeface="Calibri"/>
              </a:rPr>
              <a:t>25,000+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42062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서울시 찻집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4224528"/>
            <a:ext cx="201168" cy="18288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42062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B4F8A"/>
                </a:solidFill>
                <a:latin typeface="Calibri"/>
              </a:rPr>
              <a:t>246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448056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DBDBD"/>
                </a:solidFill>
                <a:latin typeface="Calibri"/>
              </a:rPr>
              <a:t>*카카오맵 등록 기준 (2025)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분석 프레임워크 전체 조감도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Analysis Framework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Framework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3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8580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749808"/>
            <a:ext cx="347472" cy="347472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768096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75895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2D"/>
                </a:solidFill>
                <a:latin typeface="Calibri"/>
              </a:rPr>
              <a:t>변수 스크리닝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00584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(Variable Screening)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243584"/>
            <a:ext cx="210312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298448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• 155개 전체 변수 투입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508760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• XGBoost + SHAP 활용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71907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• 비선형 중요도 상위 22개 추출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71800" y="68580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401568" y="749808"/>
            <a:ext cx="347472" cy="347472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1568" y="768096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22191" y="75895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2D"/>
                </a:solidFill>
                <a:latin typeface="Calibri"/>
              </a:rPr>
              <a:t>Feature Selection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100584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(Linearity Check)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243584"/>
            <a:ext cx="210312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298448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• Lasso / ElasticNet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508760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• VIF &lt; 5 다중공선성 제거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171907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• 최종 6개 수요 변수 확정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40" y="2029968"/>
            <a:ext cx="2103120" cy="1234440"/>
          </a:xfrm>
          <a:prstGeom prst="rect">
            <a:avLst/>
          </a:prstGeom>
          <a:solidFill>
            <a:srgbClr val="EBF4FB"/>
          </a:solidFill>
          <a:ln w="1270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029968"/>
            <a:ext cx="777240" cy="22860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20482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DEMAND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27248" y="20574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alibri"/>
              </a:rPr>
              <a:t>Track A: 수요 예측 모델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7248" y="234086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4F8A"/>
                </a:solidFill>
                <a:latin typeface="Calibri"/>
              </a:rPr>
              <a:t>• 순수 수요 변수 5종 (공급 제외)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27248" y="25237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4F8A"/>
                </a:solidFill>
                <a:latin typeface="Calibri"/>
              </a:rPr>
              <a:t>• Pooled OLS + GroupKFold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270662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4F8A"/>
                </a:solidFill>
                <a:latin typeface="Calibri"/>
              </a:rPr>
              <a:t>• Output: OOF 잔차 (Residuals)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87121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4F8A"/>
                </a:solidFill>
                <a:latin typeface="Calibri"/>
              </a:rPr>
              <a:t>  음수(–) = 수요 대비 저성과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3364992"/>
            <a:ext cx="2103120" cy="1234440"/>
          </a:xfrm>
          <a:prstGeom prst="rect">
            <a:avLst/>
          </a:prstGeom>
          <a:solidFill>
            <a:srgbClr val="FDECEC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0" y="3364992"/>
            <a:ext cx="777240" cy="228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338328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SUPPLY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27248" y="33924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Track B: 공급 부족 지수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27248" y="3675887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  <a:latin typeface="Calibri"/>
              </a:rPr>
              <a:t>• ①절대 희소성: 1/(찻집수+1)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27248" y="385876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  <a:latin typeface="Calibri"/>
              </a:rPr>
              <a:t>• ②경쟁력: 찻집매출/(카페수+1)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404164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  <a:latin typeface="Calibri"/>
              </a:rPr>
              <a:t>• Output: 복합 공급 점수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27248" y="42062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  <a:latin typeface="Calibri"/>
              </a:rPr>
              <a:t>  높음(+) = 찻집 공급 공백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1488" y="2304288"/>
            <a:ext cx="182880" cy="182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9748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685800"/>
            <a:ext cx="2057400" cy="3520440"/>
          </a:xfrm>
          <a:prstGeom prst="rect">
            <a:avLst/>
          </a:prstGeom>
          <a:solidFill>
            <a:srgbClr val="1B3A2D"/>
          </a:solidFill>
          <a:ln w="9525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59" y="822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통합 2D 매트릭스
&amp; 추천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59" y="15087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4E6D0"/>
                </a:solidFill>
                <a:latin typeface="Calibri"/>
              </a:rPr>
              <a:t>X축: OOF 잔차 (수요)
Y축: 공급점수 (공급)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66559" y="2103120"/>
            <a:ext cx="1874519" cy="137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12280" y="2240280"/>
            <a:ext cx="1783080" cy="53035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12280" y="2258568"/>
            <a:ext cx="1783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Strategy 1
Q1 안전 진입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2907792"/>
            <a:ext cx="1783080" cy="5303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12280" y="2926080"/>
            <a:ext cx="1783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Strategy 2
Q2 선점 투자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1072" y="2423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4F8A"/>
                </a:solidFill>
                <a:latin typeface="Calibri"/>
              </a:rPr>
              <a:t>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91072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  <a:latin typeface="Calibri"/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2200" y="2331720"/>
            <a:ext cx="502920" cy="1234440"/>
          </a:xfrm>
          <a:prstGeom prst="rect">
            <a:avLst/>
          </a:prstGeom>
          <a:solidFill>
            <a:srgbClr val="F0F4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7220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B3A2D"/>
                </a:solidFill>
                <a:latin typeface="Calibri"/>
              </a:rPr>
              <a:t>2-Track
Split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데이터 소개 및 수집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Data Overview &amp; Collection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2. Data &amp;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4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8321040" cy="868680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BC62"/>
                </a:solidFill>
                <a:latin typeface="Calibri"/>
              </a:rPr>
              <a:t>TOTAL DATASET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822960"/>
            <a:ext cx="6217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9,760 Rows</a:t>
            </a:r>
            <a:r>
              <a:rPr sz="2000">
                <a:solidFill>
                  <a:srgbClr val="97BC62"/>
                </a:solidFill>
              </a:rPr>
              <a:t>  |  </a:t>
            </a:r>
            <a:r>
              <a:rPr sz="2600" b="1">
                <a:solidFill>
                  <a:srgbClr val="FFFFFF"/>
                </a:solidFill>
                <a:latin typeface="Georgia"/>
              </a:rPr>
              <a:t>155 Variables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52144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4E6D0"/>
                </a:solidFill>
                <a:latin typeface="Calibri"/>
              </a:rPr>
              <a:t>🗂  서울시 1,139개 상권 × 9개 분기 (2023Q3 ~ 2025Q3)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508760"/>
            <a:ext cx="5212080" cy="292608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536192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구분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153619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주요 변수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153619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데이터 출처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801368"/>
            <a:ext cx="5212080" cy="548640"/>
          </a:xfrm>
          <a:prstGeom prst="rect">
            <a:avLst/>
          </a:prstGeom>
          <a:solidFill>
            <a:srgbClr val="EBF4F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" y="1911095"/>
            <a:ext cx="548640" cy="25603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192024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수요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1847088"/>
            <a:ext cx="2715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2D"/>
                </a:solidFill>
                <a:latin typeface="Calibri"/>
              </a:rPr>
              <a:t>인구·소득·인프라
유동/직장/상주인구, 월평균소득, 아파트시가, 집객시설수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2" y="189280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서울시 상권분석
서비스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368296"/>
            <a:ext cx="5212080" cy="548640"/>
          </a:xfrm>
          <a:prstGeom prst="rect">
            <a:avLst/>
          </a:prstGeom>
          <a:solidFill>
            <a:srgbClr val="FFF8E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" y="2478024"/>
            <a:ext cx="548640" cy="256032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48716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트렌드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2414015"/>
            <a:ext cx="2715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2D"/>
                </a:solidFill>
                <a:latin typeface="Calibri"/>
              </a:rPr>
              <a:t>관심도·성장성
카페 검색량 지수, 검색량 성장률, 업종별 개업률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3632" y="245973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네이버 데이터랩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35224"/>
            <a:ext cx="5212080" cy="548640"/>
          </a:xfrm>
          <a:prstGeom prst="rect">
            <a:avLst/>
          </a:prstGeom>
          <a:solidFill>
            <a:srgbClr val="FDECE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" y="3044952"/>
            <a:ext cx="548640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3054096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공급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2980944"/>
            <a:ext cx="2715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2D"/>
                </a:solidFill>
                <a:latin typeface="Calibri"/>
              </a:rPr>
              <a:t>경쟁 현황
찻집 수, 카페 점포수, 스타벅스 리저브 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13632" y="302666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카카오맵 API
(직접 크롤링)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502152"/>
            <a:ext cx="5212080" cy="548640"/>
          </a:xfrm>
          <a:prstGeom prst="rect">
            <a:avLst/>
          </a:prstGeom>
          <a:solidFill>
            <a:srgbClr val="F0F4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8912" y="3611880"/>
            <a:ext cx="548640" cy="25603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3621024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접근성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" y="3547872"/>
            <a:ext cx="2715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2D"/>
                </a:solidFill>
                <a:latin typeface="Calibri"/>
              </a:rPr>
              <a:t>교통 환경
반경 내 지하철역 수, 노선 수 (좌표 매핑)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359359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자체 수집
+ 좌표 계산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069080"/>
            <a:ext cx="5212080" cy="548640"/>
          </a:xfrm>
          <a:prstGeom prst="rect">
            <a:avLst/>
          </a:prstGeom>
          <a:solidFill>
            <a:srgbClr val="E8F4F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8912" y="4178808"/>
            <a:ext cx="548640" cy="2560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매출(Y)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" y="4114800"/>
            <a:ext cx="2715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2D"/>
                </a:solidFill>
                <a:latin typeface="Calibri"/>
              </a:rPr>
              <a:t>시장 규모 대리변수
카페·음료 업종 전체 분기 매출 (log 변환)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13632" y="416052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서울시 상권분석
서비스 API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1508760"/>
            <a:ext cx="29260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9320" y="158191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3A2D"/>
                </a:solidFill>
                <a:latin typeface="Calibri"/>
              </a:rPr>
              <a:t>3D Panel Data Cube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9440" y="1892807"/>
            <a:ext cx="594360" cy="2286000"/>
          </a:xfrm>
          <a:prstGeom prst="rect">
            <a:avLst/>
          </a:prstGeom>
          <a:solidFill>
            <a:srgbClr val="E57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80760" y="3474720"/>
            <a:ext cx="1371600" cy="73152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62088" y="3840479"/>
            <a:ext cx="1097280" cy="50292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89320" y="29718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3A2D"/>
                </a:solidFill>
                <a:latin typeface="Georgia"/>
              </a:rPr>
              <a:t>9,760
Observations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2552" y="1892807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62828"/>
                </a:solidFill>
                <a:latin typeface="Calibri"/>
              </a:rPr>
              <a:t>Spatial Units
(Height)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42336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965A3"/>
                </a:solidFill>
                <a:latin typeface="Calibri"/>
              </a:rPr>
              <a:t>Feature Space (Depth)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4416552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E7D32"/>
                </a:solidFill>
                <a:latin typeface="Calibri"/>
              </a:rPr>
              <a:t>Temporal (Width)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66344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Variables
(155)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466344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Districts
(1,139)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09560" y="466344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9 Quarters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Y변수 선택 논리와 분포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Target Variable Selection &amp; Distribution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2. Data &amp;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5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27889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21792"/>
            <a:ext cx="54864" cy="10789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9496" y="713232"/>
            <a:ext cx="292608" cy="292608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73152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4008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시장 규모 대리 (Market Proxy)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960120"/>
            <a:ext cx="26334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찻집만의 매출이 아닌 카페·음료 업종 전체 매출을 Y로 정의.
해당 상권의 "음료 소비 총량(TAM)"을 측정.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621792"/>
            <a:ext cx="27889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621792"/>
            <a:ext cx="54864" cy="107899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65576" y="713232"/>
            <a:ext cx="292608" cy="292608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5576" y="73152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64008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alibri"/>
              </a:rPr>
              <a:t>Zero-Inflation 문제 회피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960120"/>
            <a:ext cx="26334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찻집이 없는 상권은 매출이 0이므로 수요 예측 불가능.
전체 음료시장 데이터로 잠재 수요 존재함을 입증.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621792"/>
            <a:ext cx="27889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621792"/>
            <a:ext cx="54864" cy="107899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91656" y="713232"/>
            <a:ext cx="292608" cy="292608"/>
          </a:xfrm>
          <a:prstGeom prst="ellipse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1656" y="73152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64008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6914"/>
                </a:solidFill>
                <a:latin typeface="Calibri"/>
              </a:rPr>
              <a:t>Log Transformation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960120"/>
            <a:ext cx="263347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원 데이터 왜도 6.04 → log1p 변환 후 -0.15.
선형 회귀 모델의 정규성 가정 충족 및 이상치 영향 완화.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17190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1828800"/>
            <a:ext cx="8321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25_eda_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01952"/>
            <a:ext cx="8138160" cy="2212848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11480" y="4251960"/>
            <a:ext cx="8321040" cy="566928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0352" y="4325112"/>
            <a:ext cx="292608" cy="292608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34340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3A2D"/>
                </a:solidFill>
                <a:latin typeface="Calibri"/>
              </a:rPr>
              <a:t>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4279392"/>
            <a:ext cx="76809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E6D0"/>
                </a:solidFill>
                <a:latin typeface="Calibri"/>
              </a:rPr>
              <a:t>Key Insight: 원본 데이터는 명동·강남 등 소수 대형 상권에 의해 극심한 우편향(왜도 6.04). 로그 변환 후 정규분포에 매우 근사하며, 분기별 분포 중앙값과 사분위 범위도 안정적으로 유지.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2D"/>
                </a:solidFill>
                <a:latin typeface="Georgia"/>
              </a:rPr>
              <a:t>Feature Selection: 155개 → 22개 → 최종 6개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Variable Selection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2. Data &amp;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6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2194560" cy="34747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400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155개 전체 변수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640080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62179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1차: XGBoost (22개)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27832" y="621792"/>
            <a:ext cx="2194560" cy="34747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27832" y="6400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22개 대표 변수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640080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D6A4F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8112" y="62179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2차: Lasso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44184" y="621792"/>
            <a:ext cx="2194560" cy="34747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44184" y="6400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최종 6개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621792"/>
            <a:ext cx="1581912" cy="34747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50608" y="6309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Linear Validation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078992"/>
            <a:ext cx="42062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078992"/>
            <a:ext cx="29260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1088136"/>
            <a:ext cx="292608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Non-Linear  1차 스크리닝 - SHAP 중요도</a:t>
            </a:r>
          </a:p>
        </p:txBody>
      </p:sp>
      <p:pic>
        <p:nvPicPr>
          <p:cNvPr id="26" name="Picture 25" descr="31_fs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114800" cy="2834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754880" y="1078992"/>
            <a:ext cx="4005072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0" y="1078992"/>
            <a:ext cx="25603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1088136"/>
            <a:ext cx="256032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Final  최종 확정 6개 수요 변수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1417320"/>
            <a:ext cx="190195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73752" y="1490472"/>
            <a:ext cx="320040" cy="32004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3752" y="15087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1472184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집객시설_수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709928"/>
            <a:ext cx="1389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수요-인프라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73752" y="19842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SHAP 2위 | VIF 2.89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75704" y="1417320"/>
            <a:ext cx="190195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48856" y="1490472"/>
            <a:ext cx="320040" cy="32004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6" y="15087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2904" y="1472184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총_직장_인구_수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2904" y="1709928"/>
            <a:ext cx="1389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인구 대표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48856" y="19842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SHAP 3위 | VIF 1.72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2350008"/>
            <a:ext cx="190195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873752" y="2423160"/>
            <a:ext cx="320040" cy="32004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73752" y="244144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2404872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월_평균_소득_금액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7800" y="2642616"/>
            <a:ext cx="1389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소비력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73752" y="29169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SHAP 4위 | VIF 3.28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5704" y="2350008"/>
            <a:ext cx="190195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848856" y="2423160"/>
            <a:ext cx="320040" cy="32004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48856" y="244144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32904" y="2404872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총_가구_수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32904" y="2642616"/>
            <a:ext cx="1389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상주 소비층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48856" y="29169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SHAP 7위 | VIF 2.37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00600" y="3282696"/>
            <a:ext cx="190195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873752" y="3355848"/>
            <a:ext cx="320040" cy="32004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73752" y="337413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3337560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카페_검색지수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3575303"/>
            <a:ext cx="1389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트렌드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2" y="38496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SHAP 9위 | VIF 1.62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75704" y="3282696"/>
            <a:ext cx="1901952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48856" y="3355848"/>
            <a:ext cx="320040" cy="32004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48856" y="337413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🚇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32904" y="3337560"/>
            <a:ext cx="1389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지하철_노선_수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32904" y="3575303"/>
            <a:ext cx="1389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접근성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48856" y="38496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SHAP 17위 | VIF 1.74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Track A: 수요 예측 모델 설계와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Demand Prediction Model Specification &amp; Diagnostics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2. Data &amp;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7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21792"/>
            <a:ext cx="3611880" cy="2743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3A2D"/>
                </a:solidFill>
                <a:latin typeface="Calibri"/>
              </a:rPr>
              <a:t>≡  Model Specification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932688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Dependent Variable (Y)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115568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log1p(카페·음료 업종 전체 매출)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801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Independent Variables (X)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463039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1. 집객시설 수 (Infra)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627631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2. 총 직장 인구 수 (Work)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792223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3. 월 평균 소득 금액 (Income)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956815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4. 총 가구 수 (Resident)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121408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5. 카페 검색 지수 (Trend)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28600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6. 지하철 노선 수 (Access)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450592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Controls (Fixed Effects)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33472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Time FE(분기 더미) + Type FE(상권 유형)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926080"/>
            <a:ext cx="3429000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962656"/>
            <a:ext cx="3611880" cy="274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0352" y="2999232"/>
            <a:ext cx="219456" cy="219456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017520"/>
            <a:ext cx="219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98094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Validation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273552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Algorithm: Pooled OLS (Linear)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465576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4F8A"/>
                </a:solidFill>
                <a:latin typeface="Calibri"/>
              </a:rPr>
              <a:t>Cross-Validation: GroupKFold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657600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  (Groups = 상권 코드, n_splits = 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849624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Objective: OOF Residuals Extraction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041648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  "동일 상권 시계열 누수 차단"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621792"/>
            <a:ext cx="46177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621792"/>
            <a:ext cx="1371600" cy="2560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60520" y="63093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9326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E9E9E"/>
                </a:solidFill>
                <a:latin typeface="Calibri"/>
              </a:rPr>
              <a:t>공급 포함 XGBoost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1170432"/>
            <a:ext cx="3474720" cy="2560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8120" y="1170432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E9E9E"/>
                </a:solidFill>
                <a:latin typeface="Calibri"/>
              </a:rPr>
              <a:t>R² = 0.9047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14813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4F8A"/>
                </a:solidFill>
                <a:latin typeface="Calibri"/>
              </a:rPr>
              <a:t>Track A (수요만, 공급 제외)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1719072"/>
            <a:ext cx="1536192" cy="25603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7044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alibri"/>
              </a:rPr>
              <a:t>R² = 0.4413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2029968"/>
            <a:ext cx="4617720" cy="365760"/>
          </a:xfrm>
          <a:prstGeom prst="rect">
            <a:avLst/>
          </a:prstGeom>
          <a:solidFill>
            <a:srgbClr val="EBF4FB"/>
          </a:solidFill>
          <a:ln w="63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2057400"/>
            <a:ext cx="4434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4F8A"/>
                </a:solidFill>
                <a:latin typeface="Calibri"/>
              </a:rPr>
              <a:t>① Track A의 낮은 R²(0.44)는 공급변수 배제에 따른 의도된 결과임. 높으면 잔차 신호가 소멸되어 블루오션 탐지 불가.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2487168"/>
            <a:ext cx="46177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60520" y="2487168"/>
            <a:ext cx="3200400" cy="25603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60520" y="249631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Independence  단변량 R² Top10</a:t>
            </a:r>
          </a:p>
        </p:txBody>
      </p:sp>
      <p:pic>
        <p:nvPicPr>
          <p:cNvPr id="49" name="Picture 48" descr="40_univariate_r2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2770632"/>
            <a:ext cx="452628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Track B: 복합 공급부족 지수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Methodology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2. Data &amp;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8 / 18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694944"/>
            <a:ext cx="310896" cy="310896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713232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676656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2D"/>
                </a:solidFill>
                <a:latin typeface="Calibri"/>
              </a:rPr>
              <a:t>지수 설계 목적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969264"/>
            <a:ext cx="4480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단순히 '찻집이 없는 곳'을 찾는 것이 아니라,
①절대적 부재와 ②상대적 희소성을 동시에 평가하여
공급 공백의 강도를 입체적으로 측정.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37360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170078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8A"/>
                </a:solidFill>
                <a:latin typeface="Calibri"/>
              </a:rPr>
              <a:t>요소 1: 절대적 희소성 (Weight 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1993392"/>
            <a:ext cx="4480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수식: 1 / (찻집수 + 1)
찻집이 0개인 곳에 최대 점수 부여.
가장 직접적인 '부재' 신호 측정.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2743200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761488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2724912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요소 2: 경쟁 속 성과 (Weight 0.5)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3017520"/>
            <a:ext cx="4480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수식: 찻집매출 / (카페점포수 + 1)
카페 경쟁이 치열한 곳에서도 찻집이 생존한다면,
그 희소 가치를 높게 평가 (니치 마켓 검증).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94176"/>
            <a:ext cx="4983480" cy="1060704"/>
          </a:xfrm>
          <a:prstGeom prst="rect">
            <a:avLst/>
          </a:prstGeom>
          <a:solidFill>
            <a:srgbClr val="E8F4F0"/>
          </a:solidFill>
          <a:ln w="9525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3767328"/>
            <a:ext cx="310896" cy="310896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85615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3749039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Rank 변환 및 민감도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4041648"/>
            <a:ext cx="4480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스케일이 다른 두 지표를 백분위수(Rank)로 변환 후 합산.
가중치(0.1~0.9) 변화에도 Top5 순위 일관성 확인 완료.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32120" y="621792"/>
            <a:ext cx="3246120" cy="822960"/>
          </a:xfrm>
          <a:prstGeom prst="rect">
            <a:avLst/>
          </a:prstGeom>
          <a:solidFill>
            <a:srgbClr val="EBF4FB"/>
          </a:solidFill>
          <a:ln w="9525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32120" y="621792"/>
            <a:ext cx="54864" cy="8229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50992" y="640080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E9E9E"/>
                </a:solidFill>
                <a:latin typeface="Calibri"/>
              </a:rPr>
              <a:t>COMPONENT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992" y="82296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onsolas"/>
              </a:rPr>
              <a:t>Scarcity Score = Rank [ 1 / (Teahouse + 1)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1554480"/>
            <a:ext cx="3246120" cy="822960"/>
          </a:xfrm>
          <a:prstGeom prst="rect">
            <a:avLst/>
          </a:prstGeom>
          <a:solidFill>
            <a:srgbClr val="EBF4FB"/>
          </a:solidFill>
          <a:ln w="9525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32120" y="1554480"/>
            <a:ext cx="54864" cy="8229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1572768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E9E9E"/>
                </a:solidFill>
                <a:latin typeface="Calibri"/>
              </a:rPr>
              <a:t>COMPONENT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175564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onsolas"/>
              </a:rPr>
              <a:t>Performance = Rank [ Sales / (Cafe + 1) 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2487168"/>
            <a:ext cx="3246120" cy="80467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50992" y="250545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BC62"/>
                </a:solidFill>
                <a:latin typeface="Calibri"/>
              </a:rPr>
              <a:t>FINAL SUPPLY GAP INDEX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2724912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0.5 × Scarcity  +  0.5 × Performance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3401568"/>
            <a:ext cx="3246120" cy="1371600"/>
          </a:xfrm>
          <a:prstGeom prst="rect">
            <a:avLst/>
          </a:prstGeom>
          <a:solidFill>
            <a:srgbClr val="FFF3F3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23560" y="3438144"/>
            <a:ext cx="3063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⚠  Methodological Limitation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3712463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  <a:latin typeface="Calibri"/>
              </a:rPr>
              <a:t>요소 2의 분자에 '찻집매출'이 포함되어,
찻집이 없는 곳(매출=0)이 낮은 점수를 받을 위험 존재.
→ Rank 변환 및 요소 1과의 결합으로 상쇄.
향후 '카페점포수/(찻집수+1)' 형태로 개선 고려.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2-Track 통합: 블루오션 정의와 랭킹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Methodology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3. Results &amp;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9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4754880" cy="25603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64008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2D"/>
                </a:solidFill>
                <a:latin typeface="Calibri"/>
              </a:rPr>
              <a:t>2D 매트릭스 축(Axis) 정의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914400"/>
            <a:ext cx="164592" cy="8229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00584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914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alibri"/>
              </a:rPr>
              <a:t>OOF 잔차 (Demand Gap)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1430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수요 예측 모델의 잔차
  양수(+) = 수요 대비 매출 과성과
  음수(–) = 수요 대비 매출 저성과 (미실현)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828800"/>
            <a:ext cx="164592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920240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8288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공급부족지수 (Supply Gap)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복합 공급 부족 지수 (0~1 정규화)
  높음(+) = 찻집 공급 공백 큼
  낮음(–) = 찻집 공급 포화 상태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743200"/>
            <a:ext cx="4754880" cy="25603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761488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2D"/>
                </a:solidFill>
                <a:latin typeface="Calibri"/>
              </a:rPr>
              <a:t>4개 사분면(Quadrant) 전략적 의미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063240"/>
            <a:ext cx="457200" cy="20116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07238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306324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4F8A"/>
                </a:solidFill>
                <a:latin typeface="Calibri"/>
              </a:rPr>
              <a:t>검증시장공백 (안전진입)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3063240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수요 검증됨 + 찻집만 없음  ★ Best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3310128"/>
            <a:ext cx="457200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331927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3310128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잠재수요미실현 (선점투자)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3310128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잠재력 높음 + 시장 미형성  ★ High Return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557016"/>
            <a:ext cx="457200" cy="201168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56616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" y="3557016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E9E9E"/>
                </a:solidFill>
                <a:latin typeface="Calibri"/>
              </a:rPr>
              <a:t>저성과·포화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27248" y="3557016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수요·성과 모두 낮음 → Avoid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3803904"/>
            <a:ext cx="457200" cy="20116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3813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" y="3803904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DBDBD"/>
                </a:solidFill>
                <a:latin typeface="Calibri"/>
              </a:rPr>
              <a:t>레드오션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27248" y="3803904"/>
            <a:ext cx="1993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성과 좋으나 경쟁 치열 → Risk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069080"/>
            <a:ext cx="4754880" cy="658368"/>
          </a:xfrm>
          <a:prstGeom prst="rect">
            <a:avLst/>
          </a:prstGeom>
          <a:solidFill>
            <a:srgbClr val="E8F4F0"/>
          </a:solidFill>
          <a:ln w="9525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409651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6A4F"/>
                </a:solidFill>
                <a:latin typeface="Calibri"/>
              </a:rPr>
              <a:t>✅  컷오프(Cutoff) 기준 정당화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43159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X축 기준(0): 모델 예측=실제가 일치하는 자연적 경계선
Y축 기준(중앙값): 전체 상권 중 상대적 상위 50% 희소성 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21808" y="621792"/>
            <a:ext cx="349300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1808" y="621792"/>
            <a:ext cx="2011680" cy="25603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67528" y="63093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2D Matrix Preview</a:t>
            </a:r>
          </a:p>
        </p:txBody>
      </p:sp>
      <p:pic>
        <p:nvPicPr>
          <p:cNvPr id="45" name="Picture 44" descr="35_2d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896112"/>
            <a:ext cx="3401568" cy="376732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394960" y="960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Q2 잠재수요
미실현 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9601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4F8A"/>
                </a:solidFill>
                <a:latin typeface="Calibri"/>
              </a:rPr>
              <a:t>Q1 검증시장
공백 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핵심 결과: 2D 매트릭스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Key Findings: Quadrant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3. Results &amp;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10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21792"/>
            <a:ext cx="202996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621792"/>
            <a:ext cx="2029968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73152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★ Q2  잠재수요 미실현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9326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0392B"/>
                </a:solidFill>
                <a:latin typeface="Georgia"/>
              </a:rPr>
              <a:t>444개 상권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12984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수요 High / 공급 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621792"/>
            <a:ext cx="202996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68880" y="621792"/>
            <a:ext cx="2029968" cy="9144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73152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4F8A"/>
                </a:solidFill>
                <a:latin typeface="Calibri"/>
              </a:rPr>
              <a:t>★ Q1  검증시장 공백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9326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4F8A"/>
                </a:solidFill>
                <a:latin typeface="Georgia"/>
              </a:rPr>
              <a:t>475개 상권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12984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수요 High / 공급 Mid-Low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621792"/>
            <a:ext cx="202996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621792"/>
            <a:ext cx="2029968" cy="91440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59" y="73152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E9E9E"/>
                </a:solidFill>
                <a:latin typeface="Calibri"/>
              </a:rPr>
              <a:t>Q3  저성과·포화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9326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9E9E9E"/>
                </a:solidFill>
                <a:latin typeface="Georgia"/>
              </a:rPr>
              <a:t> 40개 상권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12984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수요 Low / 공급 High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621792"/>
            <a:ext cx="202996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66560" y="621792"/>
            <a:ext cx="2029968" cy="9144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73152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DBDBD"/>
                </a:solidFill>
                <a:latin typeface="Calibri"/>
              </a:rPr>
              <a:t>Q4  레드오션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9326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BDBDBD"/>
                </a:solidFill>
                <a:latin typeface="Georgia"/>
              </a:rPr>
              <a:t> 77개 상권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12984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수요 Low / 공급 과잉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600200"/>
            <a:ext cx="85953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35_2d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0"/>
            <a:ext cx="85039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Q1 추천 — 안전 진입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Verified Market Gap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3. Results &amp;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11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8321040" cy="713232"/>
          </a:xfrm>
          <a:prstGeom prst="rect">
            <a:avLst/>
          </a:prstGeom>
          <a:solidFill>
            <a:srgbClr val="EBF4FB"/>
          </a:solidFill>
          <a:ln w="1270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21792"/>
            <a:ext cx="64008" cy="71323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749808"/>
            <a:ext cx="310896" cy="310896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768096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400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4F8A"/>
                </a:solidFill>
                <a:latin typeface="Calibri"/>
              </a:rPr>
              <a:t>전략 개념: 검증된 시장 + 공급 공백 = LOW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914400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4F8A"/>
                </a:solidFill>
                <a:latin typeface="Calibri"/>
              </a:rPr>
              <a:t>이미 활성화된 음료 소비 시장(검증됨)이나 찻집 공급만이 부재한 상권. 수요 불확실성이 낮아 안정적 창업을 선호하는 초기 진입자에게 적합.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444752"/>
            <a:ext cx="5074920" cy="2926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463040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순위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14630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상권명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146304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OOF 잔차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8416" y="146304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공급점수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463040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특징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737360"/>
            <a:ext cx="5074920" cy="420624"/>
          </a:xfrm>
          <a:prstGeom prst="rect">
            <a:avLst/>
          </a:prstGeom>
          <a:solidFill>
            <a:srgbClr val="EBF4F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1810512"/>
            <a:ext cx="274320" cy="2743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1828800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홍대소상공인상점가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3744" y="1828800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+3.231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6" y="1828800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0.751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1810512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전통시장, 집객 상위 97%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176272"/>
            <a:ext cx="5074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2249424"/>
            <a:ext cx="274320" cy="2743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226771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2위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226771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외대앞역 1번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23744" y="2267712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+3.198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28416" y="2267712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0.767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2249424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골목상권, 지하철 접근성↑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615184"/>
            <a:ext cx="5074920" cy="420624"/>
          </a:xfrm>
          <a:prstGeom prst="rect">
            <a:avLst/>
          </a:prstGeom>
          <a:solidFill>
            <a:srgbClr val="EBF4F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2688336"/>
            <a:ext cx="274320" cy="2743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270662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3위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2706624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성신여대입구역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3744" y="2706624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+3.179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28416" y="2706624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0.771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688336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대학가, 직장인구 상위 46%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054096"/>
            <a:ext cx="5074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7200" y="3127248"/>
            <a:ext cx="274320" cy="2743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14553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4위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" y="3145536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광나루역 1번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145536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+3.136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28416" y="3145536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0.766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3127248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주거밀집, 소득 상위 21%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493008"/>
            <a:ext cx="5074920" cy="420624"/>
          </a:xfrm>
          <a:prstGeom prst="rect">
            <a:avLst/>
          </a:prstGeom>
          <a:solidFill>
            <a:srgbClr val="EBF4F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7200" y="3566160"/>
            <a:ext cx="274320" cy="2743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358444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5위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" y="3584448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경향신문사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3744" y="3584448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+2.966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28416" y="3584448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4F8A"/>
                </a:solidFill>
                <a:latin typeface="Calibri"/>
              </a:rPr>
              <a:t>0.765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3566160"/>
            <a:ext cx="1298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오피스, 직장인구 상위 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3840480"/>
            <a:ext cx="5074920" cy="621792"/>
          </a:xfrm>
          <a:prstGeom prst="rect">
            <a:avLst/>
          </a:prstGeom>
          <a:solidFill>
            <a:srgbClr val="EBF4FB"/>
          </a:solidFill>
          <a:ln w="63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" y="3867912"/>
            <a:ext cx="4846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4F8A"/>
                </a:solidFill>
                <a:latin typeface="Calibri"/>
              </a:rPr>
              <a:t>🔍  공통 패턴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11480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대학가/오피스 배후지의 골목상권 및 전통시장 기반.
상주 소비층(직장/거주)이 탄탄하여 평일·주말 매출 방어가 유리한 구조.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77840" y="1444752"/>
            <a:ext cx="32461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577840" y="1444752"/>
            <a:ext cx="3246120" cy="25603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23559" y="145389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Q1 / Q2 수요 변수 강점 분석 (Radar)</a:t>
            </a:r>
          </a:p>
        </p:txBody>
      </p:sp>
      <p:pic>
        <p:nvPicPr>
          <p:cNvPr id="64" name="Picture 63" descr="37_rad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719072"/>
            <a:ext cx="31546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Q2 추천 — 선점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Preemptive Strategy for High-Potential Markets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3. Results &amp;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12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8321040" cy="713232"/>
          </a:xfrm>
          <a:prstGeom prst="rect">
            <a:avLst/>
          </a:prstGeom>
          <a:solidFill>
            <a:srgbClr val="FDECEC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21792"/>
            <a:ext cx="64008" cy="7132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749808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768096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400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전략 개념: 잠재수요 미실현 (High Risk, High Return)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914400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392B"/>
                </a:solidFill>
                <a:latin typeface="Calibri"/>
              </a:rPr>
              <a:t>수요 지표는 압도적이나 찻집 공급이 없어 아직 매출로 실현되지 않은 상권. 초기 진입 시 독점적 지위를 누릴 수 있으나, 수요 현장 검증이 필요함.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444752"/>
            <a:ext cx="5074920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463040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순위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146304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상권명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5144" y="1463040"/>
            <a:ext cx="804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공급점수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7248" y="1463040"/>
            <a:ext cx="804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OOF 잔차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1463040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특징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737360"/>
            <a:ext cx="5074920" cy="420624"/>
          </a:xfrm>
          <a:prstGeom prst="rect">
            <a:avLst/>
          </a:prstGeom>
          <a:solidFill>
            <a:srgbClr val="FDECE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1810512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1828800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서울역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95144" y="1828800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0.770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7248" y="1828800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-0.350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8496" y="1810512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집객 상위 3%, 직장인구 상위 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176272"/>
            <a:ext cx="5074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2249424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226771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2위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2267712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대치역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95144" y="2267712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0.769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2267712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-1.005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68496" y="2249424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소득 상위 0%, 집객 상위 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615184"/>
            <a:ext cx="5074920" cy="420624"/>
          </a:xfrm>
          <a:prstGeom prst="rect">
            <a:avLst/>
          </a:prstGeom>
          <a:solidFill>
            <a:srgbClr val="FDECE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2688336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270662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3위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270662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상봉역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95144" y="270662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0.762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27248" y="270662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-0.017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68496" y="2688336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가구수 상위 9%, 지하철 상위 4%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054096"/>
            <a:ext cx="5074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7200" y="3127248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14553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4위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" y="314553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충정로역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95144" y="31455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0.760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45536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-0.100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8496" y="312724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소득 상위 3%, 직장인구 상위 18%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493008"/>
            <a:ext cx="5074920" cy="420624"/>
          </a:xfrm>
          <a:prstGeom prst="rect">
            <a:avLst/>
          </a:prstGeom>
          <a:solidFill>
            <a:srgbClr val="FDECE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7200" y="3566160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358444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5위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" y="358444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응암역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95144" y="3584448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0.758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7248" y="3584448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392B"/>
                </a:solidFill>
                <a:latin typeface="Calibri"/>
              </a:rPr>
              <a:t>-0.095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68496" y="356616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전반적 중상위권 균형형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3840480"/>
            <a:ext cx="5074920" cy="621792"/>
          </a:xfrm>
          <a:prstGeom prst="rect">
            <a:avLst/>
          </a:prstGeom>
          <a:solidFill>
            <a:srgbClr val="FDECEC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" y="3867912"/>
            <a:ext cx="4846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🔍  구조적 미실현 판단 기준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11480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• 9분기 잔차 일관성: 일시적 하락이 아닌 지속적 음수 잔차 확인
• 수요 요인 건강성: 유동인구/소득 등 핵심 지표 상위 10% 이내
• 공급 공백 원인: 임대료·규제 등 진입 장벽 여부 현장 확인 권장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77840" y="1444752"/>
            <a:ext cx="32461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577840" y="1444752"/>
            <a:ext cx="3246120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23559" y="145389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Q1/Q2 Top5  9분기 OOF 잔차 추세</a:t>
            </a:r>
          </a:p>
        </p:txBody>
      </p:sp>
      <p:pic>
        <p:nvPicPr>
          <p:cNvPr id="64" name="Picture 63" descr="37_residual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719072"/>
            <a:ext cx="31546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리스크 성향별 전략 제언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Strategy Recommendation by Risk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3. Results &amp;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13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21792"/>
            <a:ext cx="3840480" cy="35478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621792"/>
            <a:ext cx="3840480" cy="43891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836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🛡  Q1 — 안전 진입 전략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133856"/>
            <a:ext cx="960120" cy="2286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15214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B4F8A"/>
                </a:solidFill>
                <a:latin typeface="Calibri"/>
              </a:rPr>
              <a:t>잔차 방향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115214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+2.9 ~ +3.2  (양수)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609344"/>
            <a:ext cx="960120" cy="2286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627632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B4F8A"/>
                </a:solidFill>
                <a:latin typeface="Calibri"/>
              </a:rPr>
              <a:t>상권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162763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골목·전통시장 배후지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084832"/>
            <a:ext cx="960120" cy="2286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10312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B4F8A"/>
                </a:solidFill>
                <a:latin typeface="Calibri"/>
              </a:rPr>
              <a:t>수요 특성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210312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상주 소비층 (가구·직장인구)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60320"/>
            <a:ext cx="960120" cy="2286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578608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B4F8A"/>
                </a:solidFill>
                <a:latin typeface="Calibri"/>
              </a:rPr>
              <a:t>리스크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257860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낮음  (시장 검증 완료)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35808"/>
            <a:ext cx="960120" cy="2286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054096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B4F8A"/>
                </a:solidFill>
                <a:latin typeface="Calibri"/>
              </a:rPr>
              <a:t>추천 대상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3054096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안정적 창업 선호자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11296"/>
            <a:ext cx="960120" cy="2286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52958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B4F8A"/>
                </a:solidFill>
                <a:latin typeface="Calibri"/>
              </a:rPr>
              <a:t>Top 상권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352958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홍대소상공인, 외대앞역,
성신여대입구역</a:t>
            </a:r>
          </a:p>
        </p:txBody>
      </p:sp>
      <p:sp>
        <p:nvSpPr>
          <p:cNvPr id="32" name="Oval 31"/>
          <p:cNvSpPr/>
          <p:nvPr/>
        </p:nvSpPr>
        <p:spPr>
          <a:xfrm>
            <a:off x="4261104" y="1965960"/>
            <a:ext cx="621792" cy="621792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1104" y="2029968"/>
            <a:ext cx="62179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VS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621792"/>
            <a:ext cx="3840480" cy="354787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621792"/>
            <a:ext cx="384048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74920" y="65836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🚀  Q2 — 선점 전략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0" y="1133856"/>
            <a:ext cx="960120" cy="228600"/>
          </a:xfrm>
          <a:prstGeom prst="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115214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392B"/>
                </a:solidFill>
                <a:latin typeface="Calibri"/>
              </a:rPr>
              <a:t>잔차 방향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115214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-0.0 ~ -1.0  (음수)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0" y="1609344"/>
            <a:ext cx="960120" cy="228600"/>
          </a:xfrm>
          <a:prstGeom prst="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0" y="1627632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392B"/>
                </a:solidFill>
                <a:latin typeface="Calibri"/>
              </a:rPr>
              <a:t>상권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1627632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발달상권·교통 허브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2084832"/>
            <a:ext cx="960120" cy="228600"/>
          </a:xfrm>
          <a:prstGeom prst="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210312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392B"/>
                </a:solidFill>
                <a:latin typeface="Calibri"/>
              </a:rPr>
              <a:t>수요 특성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3328" y="2103120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유동·직장인구 압도적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0" y="2560320"/>
            <a:ext cx="960120" cy="228600"/>
          </a:xfrm>
          <a:prstGeom prst="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0" y="2578608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392B"/>
                </a:solidFill>
                <a:latin typeface="Calibri"/>
              </a:rPr>
              <a:t>리스크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53328" y="257860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높음  (수요 미개척)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0" y="3035808"/>
            <a:ext cx="960120" cy="228600"/>
          </a:xfrm>
          <a:prstGeom prst="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0" y="3054096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392B"/>
                </a:solidFill>
                <a:latin typeface="Calibri"/>
              </a:rPr>
              <a:t>추천 대상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53328" y="3054096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선점 기회 추구자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0" y="3511296"/>
            <a:ext cx="960120" cy="228600"/>
          </a:xfrm>
          <a:prstGeom prst="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0" y="3529584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392B"/>
                </a:solidFill>
                <a:latin typeface="Calibri"/>
              </a:rPr>
              <a:t>Top 상권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53328" y="3529584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2D"/>
                </a:solidFill>
                <a:latin typeface="Calibri"/>
              </a:rPr>
              <a:t>서울역, 대치역,
상봉역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224528"/>
            <a:ext cx="8412480" cy="658368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2519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7BC62"/>
                </a:solidFill>
                <a:latin typeface="Calibri"/>
              </a:rPr>
              <a:t>💼  균형 전략 제안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4E6D0"/>
                </a:solidFill>
                <a:latin typeface="Calibri"/>
              </a:rPr>
              <a:t>Q1 Top3 + Q2 Top2 포트폴리오 검토를 권장. 리스크 분산과 선점 기회를 동시에 확보하는 투 트랙 진입 전략.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0" y="4279392"/>
            <a:ext cx="3017520" cy="502920"/>
          </a:xfrm>
          <a:prstGeom prst="rect">
            <a:avLst/>
          </a:prstGeom>
          <a:solidFill>
            <a:srgbClr val="243D33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42432" y="4297680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CC80"/>
                </a:solidFill>
                <a:latin typeface="Calibri"/>
              </a:rPr>
              <a:t>⚠  본 분석은 상권 단위 집계 데이터 기반.
실제 점포 위치(임대료·건물 유형)는 현장 조사 필수.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방법론 신뢰성 검증 — Robustness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Methodology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3. Results &amp;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14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4206240" cy="3310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21792"/>
            <a:ext cx="3474720" cy="2560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30936"/>
            <a:ext cx="3383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Parameter Sensitivity  가중치 민감도 분석</a:t>
            </a:r>
          </a:p>
        </p:txBody>
      </p:sp>
      <p:pic>
        <p:nvPicPr>
          <p:cNvPr id="14" name="Picture 13" descr="39_sensitivity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6112"/>
            <a:ext cx="4114800" cy="2971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11480" y="3968496"/>
            <a:ext cx="4206240" cy="530352"/>
          </a:xfrm>
          <a:prstGeom prst="rect">
            <a:avLst/>
          </a:prstGeom>
          <a:solidFill>
            <a:srgbClr val="E8F4F0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995928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✅  가중치(0.1~0.9) 변화 시나리오 테스트 결과,
Q1 Top5 상권 80% 이상 일치 → 추천 결과가 매우 견고(Robust)함.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621792"/>
            <a:ext cx="4041648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621792"/>
            <a:ext cx="2011680" cy="25603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63093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Validation Summary</a:t>
            </a:r>
          </a:p>
        </p:txBody>
      </p:sp>
      <p:sp>
        <p:nvSpPr>
          <p:cNvPr id="20" name="Oval 19"/>
          <p:cNvSpPr/>
          <p:nvPr/>
        </p:nvSpPr>
        <p:spPr>
          <a:xfrm>
            <a:off x="4828032" y="932688"/>
            <a:ext cx="256032" cy="256032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950976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932688"/>
            <a:ext cx="1600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가중치 Robustness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2" y="11521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0.5/0.5는 극단값 아닌
안정적 중앙값</a:t>
            </a:r>
          </a:p>
        </p:txBody>
      </p:sp>
      <p:sp>
        <p:nvSpPr>
          <p:cNvPr id="24" name="Oval 23"/>
          <p:cNvSpPr/>
          <p:nvPr/>
        </p:nvSpPr>
        <p:spPr>
          <a:xfrm>
            <a:off x="6821424" y="932688"/>
            <a:ext cx="256032" cy="256032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21424" y="950976"/>
            <a:ext cx="256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1464" y="932688"/>
            <a:ext cx="1600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4F8A"/>
                </a:solidFill>
                <a:latin typeface="Calibri"/>
              </a:rPr>
              <a:t>이상치 처리 타당성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1464" y="11521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명동 제외 → 모델 일반화
성능 향상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240280"/>
            <a:ext cx="4041648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0" y="2240280"/>
            <a:ext cx="3200400" cy="25603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600" y="22494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Independence  단변량 R² 구조 검증</a:t>
            </a:r>
          </a:p>
        </p:txBody>
      </p:sp>
      <p:pic>
        <p:nvPicPr>
          <p:cNvPr id="31" name="Picture 30" descr="40_univariate_r2_to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514600"/>
            <a:ext cx="3950208" cy="135331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754880" y="3968496"/>
            <a:ext cx="4041648" cy="530352"/>
          </a:xfrm>
          <a:prstGeom prst="rect">
            <a:avLst/>
          </a:prstGeom>
          <a:solidFill>
            <a:srgbClr val="EBF4FB"/>
          </a:solidFill>
          <a:ln w="63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399592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4F8A"/>
                </a:solidFill>
                <a:latin typeface="Calibri"/>
              </a:rPr>
              <a:t>공급변수 제외 후에도 수요 변수(집객시설 R²=0.30, 직장인구 R²=0.29)가
유의미한 설명력 보유 → Track A 잔차의 신호 신뢰도 뒷받침.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구조적 블루오션 vs 일시적 이상치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Structural Blue Ocean vs. Transient Outliers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3. Results &amp;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15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58368"/>
            <a:ext cx="43434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8368"/>
            <a:ext cx="54864" cy="89611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0352" y="731519"/>
            <a:ext cx="292608" cy="292608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749808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기준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713232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alibri"/>
              </a:rPr>
              <a:t>9분기 잔차 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969264"/>
            <a:ext cx="374903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일시적 매출 급등(이벤트 등)이 아닌,
9분기에 걸쳐 지속적인 수요 대비 공급 부족 상태인지 확인.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627632"/>
            <a:ext cx="43434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1627632"/>
            <a:ext cx="54864" cy="89611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352" y="1700784"/>
            <a:ext cx="292608" cy="292608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171907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기준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168249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레이더 차트의 근본 수요 강건성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1938528"/>
            <a:ext cx="374903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단일 변수(일시적 유동인구 폭증)에 의존도가 낮고,
직장/거주/소득 등 구조적 기반이 탄탄한지 검증.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596896"/>
            <a:ext cx="43434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1B3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596896"/>
            <a:ext cx="54864" cy="89611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2670048"/>
            <a:ext cx="292608" cy="292608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268833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기준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2651760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3A2D"/>
                </a:solidFill>
                <a:latin typeface="Calibri"/>
              </a:rPr>
              <a:t>상권 유형의 일관성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2907791"/>
            <a:ext cx="374903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해당 상권 유형(골목/발달 등) 내에서
지속적으로 상위 성과를 유지하는지 확인.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675887"/>
            <a:ext cx="4343400" cy="548640"/>
          </a:xfrm>
          <a:prstGeom prst="rect">
            <a:avLst/>
          </a:prstGeom>
          <a:solidFill>
            <a:srgbClr val="E8F4F0"/>
          </a:solidFill>
          <a:ln w="9525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370332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6A4F"/>
                </a:solidFill>
                <a:latin typeface="Calibri"/>
              </a:rPr>
              <a:t>구조적 강건성(Structural Robustness)의 의미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93192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진정한 블루오션은 계절·경기 변동에도 수요가 꾸준히 공급을 압도하는 곳.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279392"/>
            <a:ext cx="4343400" cy="512064"/>
          </a:xfrm>
          <a:prstGeom prst="rect">
            <a:avLst/>
          </a:prstGeom>
          <a:solidFill>
            <a:srgbClr val="FFF3F3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  <a:latin typeface="Calibri"/>
              </a:rPr>
              <a:t>⚠  경계 케이스(Borderline)는 반드시 임장(현장 방문)으로
물리적 제약 요인(경사도, 노후도, 임대료 등) 확인 권장.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19472" y="621792"/>
            <a:ext cx="3886200" cy="416966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19472" y="621792"/>
            <a:ext cx="3886200" cy="25603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65192" y="630936"/>
            <a:ext cx="3794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단변량 R² Top10 — 구조적 블루오션 근거</a:t>
            </a:r>
          </a:p>
        </p:txBody>
      </p:sp>
      <p:pic>
        <p:nvPicPr>
          <p:cNvPr id="37" name="Picture 36" descr="40_univariate_r2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896112"/>
            <a:ext cx="3794760" cy="38221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핵심 의사결정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Key Decisions &amp; Rationale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4.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16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4983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21792"/>
            <a:ext cx="54864" cy="74980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0352" y="713232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73152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65836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E9E9E"/>
                </a:solidFill>
                <a:latin typeface="Calibri"/>
              </a:rPr>
              <a:t>TARGET VARIABLE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822960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Y = 카페·음료 업종 전체 매출 (log1p)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107899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찻집 매출 0 문제 해결. 시장 전체 TAM을 대리변수로 사용하여 잠재 수요 측정.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426464"/>
            <a:ext cx="4983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1426464"/>
            <a:ext cx="54864" cy="7498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0352" y="1517904"/>
            <a:ext cx="274320" cy="2743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153619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1463040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E9E9E"/>
                </a:solidFill>
                <a:latin typeface="Calibri"/>
              </a:rPr>
              <a:t>FEATURE SELECTION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1627632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8A"/>
                </a:solidFill>
                <a:latin typeface="Calibri"/>
              </a:rPr>
              <a:t>SHAP Screening → Lasso → VIF (최종 6개)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188366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비선형 관련성과 선형 독립성을 교차 검증. 공급 변수를 의도적으로 배제.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231136"/>
            <a:ext cx="4983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231136"/>
            <a:ext cx="54864" cy="74980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0352" y="2322576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234086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2267712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E9E9E"/>
                </a:solidFill>
                <a:latin typeface="Calibri"/>
              </a:rPr>
              <a:t>MODELING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" y="2432304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Pooled OLS + GroupKFold (OOF 잔차)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2688336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해석 가능성(선형) 우선. 동일 상권 시계열 누수 차단으로 잔차 신뢰도 확보.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035808"/>
            <a:ext cx="4983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035808"/>
            <a:ext cx="54864" cy="7498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0352" y="3127248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314553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3072384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E9E9E"/>
                </a:solidFill>
                <a:latin typeface="Calibri"/>
              </a:rPr>
              <a:t>SCORING LOGIC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" y="3236976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2-Track: 수요 미실현(잔차) × 공급 부족(지수)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" y="349300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수요 예측 오차와 물리적 공급 공백을 독립 차원으로 평가하여 블루오션 정의.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840480"/>
            <a:ext cx="4983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840480"/>
            <a:ext cx="54864" cy="749808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0352" y="3931920"/>
            <a:ext cx="274320" cy="27432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395020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" y="3877056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E9E9E"/>
                </a:solidFill>
                <a:latin typeface="Calibri"/>
              </a:rPr>
              <a:t>FINAL STRATEGY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" y="4041648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3A2D"/>
                </a:solidFill>
                <a:latin typeface="Calibri"/>
              </a:rPr>
              <a:t>Q1(안전 진입) vs Q2(선점 투자) 이원화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42976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창업자의 리스크 성향에 따른 맞춤형 상권 제안. 포트폴리오 접근 권장.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32120" y="621792"/>
            <a:ext cx="3291840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32120" y="621792"/>
            <a:ext cx="2286000" cy="256032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77840" y="63093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Analytic Process Flow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89320" y="896112"/>
            <a:ext cx="2377440" cy="292608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40" y="9144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① Raw Data (9,760 × 155)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1298448"/>
            <a:ext cx="2377440" cy="29260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13167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② SHAP Screening (22개)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89320" y="1700784"/>
            <a:ext cx="2377440" cy="29260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17190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③ Lasso + VIF (최종 6개)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0" y="2176272"/>
            <a:ext cx="1051560" cy="2926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15000" y="2194560"/>
            <a:ext cx="9601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Track A
OOF Residual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0" y="2176272"/>
            <a:ext cx="960120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03720" y="219456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Track B
Supply Gap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89320" y="2788920"/>
            <a:ext cx="2377440" cy="384048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35040" y="28072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④ 2D Matrix
Integration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0" y="3310128"/>
            <a:ext cx="1051560" cy="2926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15000" y="3328416"/>
            <a:ext cx="9601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Q1
안전 진입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0" y="3310128"/>
            <a:ext cx="960120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03720" y="33284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Q2
선점 투자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120700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1609344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78040" y="248716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0" y="202996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↙  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66560" y="32004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E9E9E"/>
                </a:solidFill>
                <a:latin typeface="Calibri"/>
              </a:rPr>
              <a:t>↙  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2D"/>
                </a:solidFill>
                <a:latin typeface="Georgia"/>
              </a:rPr>
              <a:t>한계와 향후 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64748B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DBDBD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BDBD"/>
                </a:solidFill>
                <a:latin typeface="Calibri"/>
              </a:rPr>
              <a:t>4.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DBDBD"/>
                </a:solidFill>
                <a:latin typeface="Calibri"/>
              </a:rPr>
              <a:t>17 /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21792"/>
            <a:ext cx="4069080" cy="274320"/>
          </a:xfrm>
          <a:prstGeom prst="rect">
            <a:avLst/>
          </a:prstGeom>
          <a:solidFill>
            <a:srgbClr val="FF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640080"/>
            <a:ext cx="3840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⚠  연구의 한계점 (Limitations)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960120"/>
            <a:ext cx="40690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C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960120"/>
            <a:ext cx="54864" cy="8412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014984"/>
            <a:ext cx="3840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설명력의 한계 (R² = 0.44)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71016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수요 외 56%의 미설명 분산 존재. 임대료, 건축 규제 등 데이터에 없는
미관측 요인이 잔차에 포함될 수 있음.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874519"/>
            <a:ext cx="40690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C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1874519"/>
            <a:ext cx="54864" cy="8412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1929384"/>
            <a:ext cx="3840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공간 단위의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185415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서울시 '상권' 단위(1,139개) 집계 데이터 사용.
개별 점포 위치나 도로변/이면도로 미시적 분석은 현장 조사 필수.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788920"/>
            <a:ext cx="40690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C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788920"/>
            <a:ext cx="54864" cy="8412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43784"/>
            <a:ext cx="3840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시간적 외부 타당성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099815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2025년 3분기 데이터 기준 분석.
분석-창업 시점 간 시차 존재. 지속적 데이터 업데이트 필요.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749039"/>
            <a:ext cx="4069080" cy="566928"/>
          </a:xfrm>
          <a:prstGeom prst="rect">
            <a:avLst/>
          </a:prstGeom>
          <a:solidFill>
            <a:srgbClr val="E8F4F0"/>
          </a:solidFill>
          <a:ln w="9525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85615"/>
            <a:ext cx="3840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6A4F"/>
                </a:solidFill>
                <a:latin typeface="Calibri"/>
              </a:rPr>
              <a:t>✅  본 연구는 정량적 스크리닝 도구로서의 가치를 가지며,
최종 의사결정은 반드시 현장 정성 평가와 병행되어야 함.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621792"/>
            <a:ext cx="4041648" cy="274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640080"/>
            <a:ext cx="3794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🚀  향후 과제 (Future Work)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960120"/>
            <a:ext cx="4041648" cy="658368"/>
          </a:xfrm>
          <a:prstGeom prst="rect">
            <a:avLst/>
          </a:prstGeom>
          <a:solidFill>
            <a:srgbClr val="E8F4F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73168" y="1033272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73168" y="105156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1014984"/>
            <a:ext cx="3520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6A4F"/>
                </a:solidFill>
                <a:latin typeface="Calibri"/>
              </a:rPr>
              <a:t>자동 업데이트 파이프라인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1252728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신규 분기 데이터 적재 시 자동 재분석 및 블루오션 랭킹 갱신 시스템 구축.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1673352"/>
            <a:ext cx="4041648" cy="658368"/>
          </a:xfrm>
          <a:prstGeom prst="rect">
            <a:avLst/>
          </a:prstGeom>
          <a:solidFill>
            <a:srgbClr val="E8F4F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773168" y="1746504"/>
            <a:ext cx="274320" cy="2743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73168" y="176479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1728216"/>
            <a:ext cx="3520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4F8A"/>
                </a:solidFill>
                <a:latin typeface="Calibri"/>
              </a:rPr>
              <a:t>Cluster SE 적용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1965960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상권별 자기상관을 고려한 견고한 표준오차 추정으로 통계적 신뢰도 향상.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2386584"/>
            <a:ext cx="4041648" cy="658368"/>
          </a:xfrm>
          <a:prstGeom prst="rect">
            <a:avLst/>
          </a:prstGeom>
          <a:solidFill>
            <a:srgbClr val="E8F4F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73168" y="2459736"/>
            <a:ext cx="274320" cy="274320"/>
          </a:xfrm>
          <a:prstGeom prst="ellipse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73168" y="247802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2441448"/>
            <a:ext cx="3520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2D"/>
                </a:solidFill>
                <a:latin typeface="Calibri"/>
              </a:rPr>
              <a:t>모델 고도화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40" y="267919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상권 유형별 세그먼트 분석 및 변수 간 상호작용(Interaction) 항 추가.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3099816"/>
            <a:ext cx="4041648" cy="658368"/>
          </a:xfrm>
          <a:prstGeom prst="rect">
            <a:avLst/>
          </a:prstGeom>
          <a:solidFill>
            <a:srgbClr val="E8F4F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73168" y="3172968"/>
            <a:ext cx="274320" cy="274320"/>
          </a:xfrm>
          <a:prstGeom prst="ellipse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319125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3154680"/>
            <a:ext cx="3520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6914"/>
                </a:solidFill>
                <a:latin typeface="Calibri"/>
              </a:rPr>
              <a:t>Tableau 대시보드 배포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0640" y="3392424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사용자가 직접 상권을 탐색·필터링 가능한 인터랙티브 시각화 도구 제공.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"/>
            <a:ext cx="64008" cy="45720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예상 질문과 방어 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97BC62"/>
                </a:solidFill>
                <a:latin typeface="Calibri"/>
              </a:rPr>
              <a:t>Anticipated Critiques &amp; Defense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7BC62"/>
                </a:solidFill>
                <a:latin typeface="Calibri"/>
              </a:rPr>
              <a:t>서울 찻집 블루오션 상권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64608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7BC62"/>
                </a:solidFill>
                <a:latin typeface="Calibri"/>
              </a:rPr>
              <a:t>4. Conclusion &amp;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646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7BC62"/>
                </a:solidFill>
                <a:latin typeface="Calibri"/>
              </a:rPr>
              <a:t>18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48640"/>
            <a:ext cx="8321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7BC62"/>
                </a:solidFill>
                <a:latin typeface="Calibri"/>
              </a:rPr>
              <a:t>교수님/발표 청중의 예상 크리틱 5개 — 미리 준비한 방어 논리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850392"/>
            <a:ext cx="4315968" cy="1261872"/>
          </a:xfrm>
          <a:prstGeom prst="rect">
            <a:avLst/>
          </a:prstGeom>
          <a:solidFill>
            <a:srgbClr val="243D33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87026" y="923544"/>
            <a:ext cx="13716" cy="111556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9052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1088136"/>
            <a:ext cx="1640067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E9E9E"/>
                </a:solidFill>
                <a:latin typeface="Calibri"/>
              </a:rPr>
              <a:t>CRITIQUE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1252728"/>
            <a:ext cx="1640067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E6D0"/>
                </a:solidFill>
                <a:latin typeface="Calibri"/>
              </a:rPr>
              <a:t>Q. "왜 Y변수가 찻집 매출이 아닌
카페·음료 전체 매출인가?"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6497" y="905256"/>
            <a:ext cx="233062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7BC62"/>
                </a:solidFill>
                <a:latin typeface="Calibri"/>
              </a:rPr>
              <a:t>DEFENSE LOGIC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6497" y="1088136"/>
            <a:ext cx="233062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Zero-Inflation 해결: 찻집 없는 상권은 매출=0이므로 Y로 사용 불가. 음료시장 전체 크기(TAM)를 대리변수로 써서 잠재 수요를 측정하는 것이 목적에 부합.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6592" y="850392"/>
            <a:ext cx="4315968" cy="1261872"/>
          </a:xfrm>
          <a:prstGeom prst="rect">
            <a:avLst/>
          </a:prstGeom>
          <a:solidFill>
            <a:srgbClr val="243D33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49298" y="923544"/>
            <a:ext cx="13716" cy="111556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9052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9744" y="1088136"/>
            <a:ext cx="1640067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E9E9E"/>
                </a:solidFill>
                <a:latin typeface="Calibri"/>
              </a:rPr>
              <a:t>CRITIQUE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1252728"/>
            <a:ext cx="1640067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E6D0"/>
                </a:solidFill>
                <a:latin typeface="Calibri"/>
              </a:rPr>
              <a:t>Q. "변수 선택과 학습에 동일 데이터를
써서 Data Leakage 아닌가?"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69" y="905256"/>
            <a:ext cx="233062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7BC62"/>
                </a:solidFill>
                <a:latin typeface="Calibri"/>
              </a:rPr>
              <a:t>DEFENSE LOGIC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8769" y="1088136"/>
            <a:ext cx="233062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목적이 예측 정확도가 아닌 '상권 간 상대 순위 스크리닝'임. OOF 잔차 추출 시 GroupKFold로 동일 상권 누수를 차단 → 순위 공정성 확보.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212848"/>
            <a:ext cx="4315968" cy="1261872"/>
          </a:xfrm>
          <a:prstGeom prst="rect">
            <a:avLst/>
          </a:prstGeom>
          <a:solidFill>
            <a:srgbClr val="243D33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87026" y="2286000"/>
            <a:ext cx="13716" cy="111556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226771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★★★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2450591"/>
            <a:ext cx="1640067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E9E9E"/>
                </a:solidFill>
                <a:latin typeface="Calibri"/>
              </a:rPr>
              <a:t>CRITIQUE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" y="2615184"/>
            <a:ext cx="1640067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E6D0"/>
                </a:solidFill>
                <a:latin typeface="Calibri"/>
              </a:rPr>
              <a:t>Q. "공급지수 2번째 요소에서
찻집이 없으면 점수가 0 아닌가?"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6497" y="2267712"/>
            <a:ext cx="233062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7BC62"/>
                </a:solidFill>
                <a:latin typeface="Calibri"/>
              </a:rPr>
              <a:t>DEFENSE LOGIC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6497" y="2450591"/>
            <a:ext cx="233062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1번째 항(1/(찻집수+1))이 찻집 0개 상권에 최고점을 부여하여 상쇄. Robustness Check에서 가중치 변화에도 Top5 구성이 일관됨을 확인.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36592" y="2212848"/>
            <a:ext cx="4315968" cy="1261872"/>
          </a:xfrm>
          <a:prstGeom prst="rect">
            <a:avLst/>
          </a:prstGeom>
          <a:solidFill>
            <a:srgbClr val="243D33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49298" y="2286000"/>
            <a:ext cx="13716" cy="111556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9744" y="226771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★★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9744" y="2450591"/>
            <a:ext cx="1640067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E9E9E"/>
                </a:solidFill>
                <a:latin typeface="Calibri"/>
              </a:rPr>
              <a:t>CRITIQUE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2615184"/>
            <a:ext cx="1640067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E6D0"/>
                </a:solidFill>
                <a:latin typeface="Calibri"/>
              </a:rPr>
              <a:t>Q. "Pooled OLS에서 패널 자기상관
문제는 어떻게 처리했나?"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69" y="2267712"/>
            <a:ext cx="233062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7BC62"/>
                </a:solidFill>
                <a:latin typeface="Calibri"/>
              </a:rPr>
              <a:t>DEFENSE LOGIC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08769" y="2450591"/>
            <a:ext cx="233062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GroupKFold로 동일 상권 9개 분기를 통째로 Fold에서 제외하여 시계열 누수 차단. 향후 Cluster Standard Error 적용으로 표준오차 보정 계획.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75304"/>
            <a:ext cx="8595360" cy="1261872"/>
          </a:xfrm>
          <a:prstGeom prst="rect">
            <a:avLst/>
          </a:prstGeom>
          <a:solidFill>
            <a:srgbClr val="243D33"/>
          </a:solidFill>
          <a:ln w="63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84371" y="3648456"/>
            <a:ext cx="13716" cy="111556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363016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★★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" y="3813048"/>
            <a:ext cx="32662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E9E9E"/>
                </a:solidFill>
                <a:latin typeface="Calibri"/>
              </a:rPr>
              <a:t>CRITIQUE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" y="3977640"/>
            <a:ext cx="326623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E6D0"/>
                </a:solidFill>
                <a:latin typeface="Calibri"/>
              </a:rPr>
              <a:t>Q. "사분면을 나누는 Cut-off가
임의적이지 않은가?"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29430" y="3630168"/>
            <a:ext cx="464149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7BC62"/>
                </a:solidFill>
                <a:latin typeface="Calibri"/>
              </a:rPr>
              <a:t>DEFENSE LOGIC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29430" y="3813048"/>
            <a:ext cx="464149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잔차=0은 예측=실제의 자연 경계선, Y축은 전체 중앙값 사용. 핵심은 경계선 부근이 아닌 '사분면 내 상위 랭킹'이므로 추천 결과 영향 제한적.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