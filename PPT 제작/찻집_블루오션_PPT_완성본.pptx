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4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4A3E"/>
    <a:srgbClr val="2D6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61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2F0D0-C432-421B-8AF5-E2835D865F62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C4A94-0EF7-4EBA-838B-7E2B334D21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160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5720"/>
            <a:ext cx="9144000" cy="3657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858000" y="1371600"/>
            <a:ext cx="2286000" cy="34747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0" y="2011680"/>
            <a:ext cx="1737360" cy="2651760"/>
          </a:xfrm>
          <a:prstGeom prst="ellipse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635240" y="2560320"/>
            <a:ext cx="1371600" cy="2286000"/>
          </a:xfrm>
          <a:prstGeom prst="ellipse">
            <a:avLst/>
          </a:prstGeom>
          <a:solidFill>
            <a:srgbClr val="243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502920"/>
            <a:ext cx="6400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7BC62"/>
                </a:solidFill>
                <a:latin typeface="Calibri"/>
              </a:rPr>
              <a:t>DATA-DRIVEN MARKET ANALYSIS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772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서울 찻집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44752"/>
            <a:ext cx="68580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97BC62"/>
                </a:solidFill>
                <a:latin typeface="Georgia"/>
              </a:rPr>
              <a:t>블루오션 상권 </a:t>
            </a:r>
            <a:r>
              <a:rPr sz="4400" b="1">
                <a:solidFill>
                  <a:srgbClr val="FFFFFF"/>
                </a:solidFill>
                <a:latin typeface="Georgia"/>
              </a:rPr>
              <a:t>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76272"/>
            <a:ext cx="77724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2304288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4E6D0"/>
                </a:solidFill>
                <a:latin typeface="Calibri"/>
              </a:rPr>
              <a:t>수요-공급 갭 기반 데이터 추천 시스템 구축 및 실증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88920"/>
            <a:ext cx="5943600" cy="1325880"/>
          </a:xfrm>
          <a:prstGeom prst="rect">
            <a:avLst/>
          </a:prstGeom>
          <a:solidFill>
            <a:srgbClr val="243D33"/>
          </a:solidFill>
          <a:ln w="127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3401568"/>
            <a:ext cx="5943600" cy="13716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2834640"/>
            <a:ext cx="13716" cy="5029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83464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7BC62"/>
                </a:solidFill>
                <a:latin typeface="Calibri"/>
              </a:rPr>
              <a:t>DATA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358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서울 1,139개 상권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8346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7BC62"/>
                </a:solidFill>
                <a:latin typeface="Calibri"/>
              </a:rPr>
              <a:t>TIME PERIOD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03580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9개 분기 (2023Q3 ~ 2025Q3)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45643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7BC62"/>
                </a:solidFill>
                <a:latin typeface="Calibri"/>
              </a:rPr>
              <a:t>METHODOLOGY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57600"/>
            <a:ext cx="5577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6D0"/>
                </a:solidFill>
                <a:latin typeface="Calibri"/>
              </a:rPr>
              <a:t>2-Track Framework  (Demand Prediction + Supply Gap Index)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251960"/>
            <a:ext cx="9144000" cy="548640"/>
          </a:xfrm>
          <a:prstGeom prst="rect">
            <a:avLst/>
          </a:prstGeom>
          <a:solidFill>
            <a:srgbClr val="1430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044952" y="4315968"/>
            <a:ext cx="9144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089904" y="4315968"/>
            <a:ext cx="9144" cy="38404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42793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7BC62"/>
                </a:solidFill>
                <a:latin typeface="Calibri"/>
              </a:rPr>
              <a:t>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46227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2026. 03. 08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27939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7BC62"/>
                </a:solidFill>
                <a:latin typeface="Calibri"/>
              </a:rPr>
              <a:t>PRESENTER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462272"/>
            <a:ext cx="2743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 err="1">
                <a:solidFill>
                  <a:srgbClr val="FFFFFF"/>
                </a:solidFill>
                <a:latin typeface="Calibri"/>
              </a:rPr>
              <a:t>Soyoung</a:t>
            </a:r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 Yun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217920" y="42793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7BC62"/>
                </a:solidFill>
                <a:latin typeface="Calibri"/>
              </a:rPr>
              <a:t>AFFILIATION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4462272"/>
            <a:ext cx="25603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i="0" dirty="0">
                <a:solidFill>
                  <a:srgbClr val="FFFFFF"/>
                </a:solidFill>
                <a:latin typeface="Calibri"/>
              </a:rPr>
              <a:t>S.T.A Track 2</a:t>
            </a:r>
            <a:r>
              <a:rPr lang="ko-KR" altLang="en-US" sz="1200" b="1" i="0" dirty="0">
                <a:solidFill>
                  <a:srgbClr val="FFFFFF"/>
                </a:solidFill>
                <a:latin typeface="Calibri"/>
              </a:rPr>
              <a:t>기</a:t>
            </a:r>
            <a:endParaRPr sz="12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636471" y="135233"/>
            <a:ext cx="59436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 err="1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연구</a:t>
            </a:r>
            <a:r>
              <a:rPr lang="en-US" sz="2200" b="1" i="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</a:t>
            </a:r>
            <a:r>
              <a:rPr lang="en-US" sz="2200" b="1" i="0" dirty="0" err="1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배경과</a:t>
            </a:r>
            <a:r>
              <a:rPr lang="en-US" sz="2200" b="1" i="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</a:t>
            </a:r>
            <a:r>
              <a:rPr lang="en-US" sz="2200" b="1" i="0" dirty="0" err="1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핵심</a:t>
            </a:r>
            <a:r>
              <a:rPr lang="en-US" sz="2200" b="1" i="0" dirty="0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 </a:t>
            </a:r>
            <a:r>
              <a:rPr lang="en-US" sz="2200" b="1" i="0" dirty="0" err="1">
                <a:solidFill>
                  <a:srgbClr val="1B3A2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Georgia"/>
              </a:rPr>
              <a:t>질문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6217920" y="91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dirty="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서울 찻집 </a:t>
            </a:r>
            <a:r>
              <a:rPr lang="en-US" sz="800" b="0" i="0" dirty="0" err="1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블루오션</a:t>
            </a:r>
            <a:r>
              <a:rPr lang="en-US" sz="800" b="0" i="0" dirty="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00" b="0" i="0" dirty="0" err="1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상권</a:t>
            </a:r>
            <a:r>
              <a:rPr lang="en-US" sz="800" b="0" i="0" dirty="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00" b="0" i="0" dirty="0" err="1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분석</a:t>
            </a:r>
            <a:endParaRPr dirty="0"/>
          </a:p>
        </p:txBody>
      </p:sp>
      <p:sp>
        <p:nvSpPr>
          <p:cNvPr id="121" name="Google Shape;121;p2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1. Problem Definition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2 / 18</a:t>
            </a:r>
            <a:endParaRPr/>
          </a:p>
        </p:txBody>
      </p:sp>
      <p:sp>
        <p:nvSpPr>
          <p:cNvPr id="123" name="Google Shape;123;p2"/>
          <p:cNvSpPr/>
          <p:nvPr/>
        </p:nvSpPr>
        <p:spPr>
          <a:xfrm>
            <a:off x="502920" y="828128"/>
            <a:ext cx="118800" cy="118800"/>
          </a:xfrm>
          <a:prstGeom prst="rect">
            <a:avLst/>
          </a:prstGeom>
          <a:solidFill>
            <a:srgbClr val="1B3A2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713232" y="735006"/>
            <a:ext cx="438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b="1" dirty="0">
                <a:solidFill>
                  <a:srgbClr val="1B3A2D"/>
                </a:solidFill>
                <a:latin typeface="Calibri"/>
                <a:cs typeface="Calibri"/>
                <a:sym typeface="Calibri"/>
              </a:rPr>
              <a:t>차 음료의 폭발적 수요 대비 부족한 찻집 수</a:t>
            </a:r>
            <a:endParaRPr dirty="0">
              <a:solidFill>
                <a:srgbClr val="1B3A2D"/>
              </a:solidFill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713232" y="1031222"/>
            <a:ext cx="4480500" cy="600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건강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ea typeface="Calibri"/>
                <a:cs typeface="Calibri"/>
              </a:rPr>
              <a:t>·</a:t>
            </a:r>
            <a:r>
              <a:rPr lang="ko-KR" altLang="en-US" sz="1100" dirty="0" err="1">
                <a:solidFill>
                  <a:srgbClr val="1B3A2D"/>
                </a:solidFill>
                <a:latin typeface="Calibri"/>
                <a:cs typeface="Calibri"/>
              </a:rPr>
              <a:t>웰니스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 트렌드로 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ea typeface="Calibri"/>
                <a:cs typeface="Calibri"/>
              </a:rPr>
              <a:t>MZ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세대를 중심으로 커피 대신 차 음료를 찾는 소비자가 늘고 있지만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서울 찻집은 단 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ea typeface="Calibri"/>
                <a:cs typeface="Calibri"/>
              </a:rPr>
              <a:t>246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개로 카페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ea typeface="Calibri"/>
                <a:cs typeface="Calibri"/>
              </a:rPr>
              <a:t>(25,000+)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의 약 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ea typeface="Calibri"/>
                <a:cs typeface="Calibri"/>
              </a:rPr>
              <a:t>1%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에 불과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  <a:sym typeface="Calibri"/>
              </a:rPr>
              <a:t> </a:t>
            </a:r>
            <a:endParaRPr sz="1100" dirty="0">
              <a:solidFill>
                <a:srgbClr val="1B3A2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502920" y="1760816"/>
            <a:ext cx="118800" cy="118800"/>
          </a:xfrm>
          <a:prstGeom prst="rect">
            <a:avLst/>
          </a:prstGeom>
          <a:solidFill>
            <a:srgbClr val="1B3A2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713232" y="1667694"/>
            <a:ext cx="438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기존</a:t>
            </a:r>
            <a:r>
              <a:rPr lang="en-US" sz="1400" b="1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상권</a:t>
            </a:r>
            <a:r>
              <a:rPr lang="en-US" sz="1400" b="1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분석의</a:t>
            </a:r>
            <a:r>
              <a:rPr lang="en-US" sz="1400" b="1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 b="1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한계</a:t>
            </a:r>
            <a:endParaRPr dirty="0"/>
          </a:p>
        </p:txBody>
      </p:sp>
      <p:sp>
        <p:nvSpPr>
          <p:cNvPr id="128" name="Google Shape;128;p2"/>
          <p:cNvSpPr txBox="1"/>
          <p:nvPr/>
        </p:nvSpPr>
        <p:spPr>
          <a:xfrm>
            <a:off x="713232" y="1974859"/>
            <a:ext cx="448050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기존 상권 분석 서비스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cs typeface="Calibri"/>
              </a:rPr>
              <a:t>(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서울시 상권 분석 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cs typeface="Calibri"/>
              </a:rPr>
              <a:t>API, 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소상공인 플랫폼 등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cs typeface="Calibri"/>
              </a:rPr>
              <a:t>)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는 카페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cs typeface="Calibri"/>
              </a:rPr>
              <a:t>·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음료 업종 전체 기준으로 설계되어 있어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cs typeface="Calibri"/>
              </a:rPr>
              <a:t>, 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찻집 창업자에게는 맞지 않는 정보만 제공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cs typeface="Calibri"/>
              </a:rPr>
              <a:t>. 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본 연구는 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cs typeface="Calibri"/>
              </a:rPr>
              <a:t>1,139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개 상권 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cs typeface="Calibri"/>
              </a:rPr>
              <a:t>× 9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분기 전수 데이터로 찻집 특화 수요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cs typeface="Calibri"/>
              </a:rPr>
              <a:t>-</a:t>
            </a:r>
            <a:r>
              <a:rPr lang="ko-KR" altLang="en-US" sz="1100" dirty="0">
                <a:solidFill>
                  <a:srgbClr val="1B3A2D"/>
                </a:solidFill>
                <a:latin typeface="Calibri"/>
                <a:cs typeface="Calibri"/>
              </a:rPr>
              <a:t>공급 갭을 최초로 정량화 시도</a:t>
            </a:r>
            <a:r>
              <a:rPr lang="en-US" altLang="ko-KR" sz="1100" dirty="0">
                <a:solidFill>
                  <a:srgbClr val="1B3A2D"/>
                </a:solidFill>
                <a:latin typeface="Calibri"/>
                <a:cs typeface="Calibri"/>
              </a:rPr>
              <a:t>.</a:t>
            </a:r>
            <a:endParaRPr sz="1100" dirty="0">
              <a:solidFill>
                <a:srgbClr val="1B3A2D"/>
              </a:solidFill>
              <a:latin typeface="Calibri"/>
              <a:cs typeface="Calibri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3A186D3-D749-47AD-B504-78CB13E1AF6B}"/>
              </a:ext>
            </a:extLst>
          </p:cNvPr>
          <p:cNvGrpSpPr/>
          <p:nvPr/>
        </p:nvGrpSpPr>
        <p:grpSpPr>
          <a:xfrm>
            <a:off x="502921" y="2813778"/>
            <a:ext cx="4800604" cy="959400"/>
            <a:chOff x="502925" y="2556600"/>
            <a:chExt cx="4800600" cy="959400"/>
          </a:xfrm>
        </p:grpSpPr>
        <p:sp>
          <p:nvSpPr>
            <p:cNvPr id="130" name="Google Shape;130;p2"/>
            <p:cNvSpPr/>
            <p:nvPr/>
          </p:nvSpPr>
          <p:spPr>
            <a:xfrm>
              <a:off x="502925" y="2556600"/>
              <a:ext cx="4800600" cy="959400"/>
            </a:xfrm>
            <a:prstGeom prst="rect">
              <a:avLst/>
            </a:prstGeom>
            <a:solidFill>
              <a:srgbClr val="E8F4F0"/>
            </a:solidFill>
            <a:ln w="9525" cap="flat" cmpd="sng">
              <a:solidFill>
                <a:srgbClr val="2D6A4F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B66FED1-CE6B-452E-8DD2-D11B4F46E85E}"/>
                </a:ext>
              </a:extLst>
            </p:cNvPr>
            <p:cNvGrpSpPr/>
            <p:nvPr/>
          </p:nvGrpSpPr>
          <p:grpSpPr>
            <a:xfrm>
              <a:off x="713232" y="2578485"/>
              <a:ext cx="4480500" cy="816541"/>
              <a:chOff x="713232" y="2578485"/>
              <a:chExt cx="4480500" cy="816541"/>
            </a:xfrm>
          </p:grpSpPr>
          <p:sp>
            <p:nvSpPr>
              <p:cNvPr id="131" name="Google Shape;131;p2"/>
              <p:cNvSpPr txBox="1"/>
              <p:nvPr/>
            </p:nvSpPr>
            <p:spPr>
              <a:xfrm>
                <a:off x="713232" y="2578485"/>
                <a:ext cx="4389000" cy="307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400" b="1" i="0">
                    <a:solidFill>
                      <a:srgbClr val="2D6A4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핵심 질문 (Research Question)</a:t>
                </a:r>
                <a:endParaRPr/>
              </a:p>
            </p:txBody>
          </p:sp>
          <p:sp>
            <p:nvSpPr>
              <p:cNvPr id="132" name="Google Shape;132;p2"/>
              <p:cNvSpPr txBox="1"/>
              <p:nvPr/>
            </p:nvSpPr>
            <p:spPr>
              <a:xfrm>
                <a:off x="713232" y="2871826"/>
                <a:ext cx="4480500" cy="52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b="0" i="0" dirty="0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"서울 1,139개 </a:t>
                </a:r>
                <a:r>
                  <a:rPr lang="en-US" b="0" i="0" dirty="0" err="1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상권</a:t>
                </a:r>
                <a:r>
                  <a:rPr lang="en-US" b="0" i="0" dirty="0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중, </a:t>
                </a:r>
                <a:r>
                  <a:rPr lang="en-US" b="0" i="0" dirty="0" err="1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잠재</a:t>
                </a:r>
                <a:r>
                  <a:rPr lang="en-US" b="0" i="0" dirty="0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US" b="0" i="0" dirty="0" err="1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수요는</a:t>
                </a:r>
                <a:r>
                  <a:rPr lang="en-US" b="0" i="0" dirty="0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US" b="0" i="0" dirty="0" err="1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충분하지만</a:t>
                </a:r>
                <a:br>
                  <a:rPr lang="en-US" b="0" i="0" dirty="0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</a:br>
                <a:r>
                  <a:rPr lang="en-US" b="0" i="0" dirty="0" err="1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아직</a:t>
                </a:r>
                <a:r>
                  <a:rPr lang="en-US" b="0" i="0" dirty="0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찻집 </a:t>
                </a:r>
                <a:r>
                  <a:rPr lang="en-US" b="0" i="0" dirty="0" err="1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공급이</a:t>
                </a:r>
                <a:r>
                  <a:rPr lang="en-US" b="0" i="0" dirty="0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US" b="0" i="0" dirty="0" err="1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부족한</a:t>
                </a:r>
                <a:r>
                  <a:rPr lang="en-US" b="0" i="0" dirty="0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'</a:t>
                </a:r>
                <a:r>
                  <a:rPr lang="en-US" b="1" i="0" dirty="0" err="1">
                    <a:solidFill>
                      <a:schemeClr val="bg2">
                        <a:lumMod val="60000"/>
                        <a:lumOff val="40000"/>
                      </a:schemeClr>
                    </a:solidFill>
                    <a:latin typeface="Calibri"/>
                    <a:ea typeface="Calibri"/>
                    <a:cs typeface="Calibri"/>
                    <a:sym typeface="Calibri"/>
                  </a:rPr>
                  <a:t>블루오션</a:t>
                </a:r>
                <a:r>
                  <a:rPr lang="en-US" b="0" i="0" dirty="0" err="1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'은</a:t>
                </a:r>
                <a:r>
                  <a:rPr lang="en-US" b="0" i="0" dirty="0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en-US" b="0" i="0" dirty="0" err="1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어디인가</a:t>
                </a:r>
                <a:r>
                  <a:rPr lang="en-US" b="0" i="0" dirty="0">
                    <a:solidFill>
                      <a:srgbClr val="1B3A2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?"</a:t>
                </a:r>
                <a:endParaRPr sz="1700" dirty="0">
                  <a:solidFill>
                    <a:srgbClr val="1B3A2D"/>
                  </a:solidFill>
                </a:endParaRPr>
              </a:p>
            </p:txBody>
          </p:sp>
        </p:grpSp>
      </p:grpSp>
      <p:sp>
        <p:nvSpPr>
          <p:cNvPr id="133" name="Google Shape;133;p2"/>
          <p:cNvSpPr/>
          <p:nvPr/>
        </p:nvSpPr>
        <p:spPr>
          <a:xfrm>
            <a:off x="502920" y="3903788"/>
            <a:ext cx="118800" cy="118800"/>
          </a:xfrm>
          <a:prstGeom prst="rect">
            <a:avLst/>
          </a:prstGeom>
          <a:solidFill>
            <a:srgbClr val="1B3A2D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713232" y="3832564"/>
            <a:ext cx="438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접근 방법: 2-Track Framework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713232" y="4172573"/>
            <a:ext cx="44805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Track A: </a:t>
            </a:r>
            <a:r>
              <a:rPr lang="en-US" sz="1100" b="0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시장</a:t>
            </a:r>
            <a:r>
              <a:rPr lang="en-US" sz="1100" b="0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수요의</a:t>
            </a:r>
            <a:r>
              <a:rPr lang="en-US" sz="1100" b="0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크기와</a:t>
            </a:r>
            <a:r>
              <a:rPr lang="en-US" sz="1100" b="0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실현도</a:t>
            </a:r>
            <a:r>
              <a:rPr lang="en-US" sz="1100" b="0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예측</a:t>
            </a:r>
            <a:br>
              <a:rPr lang="en-US" sz="1100" b="0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 b="0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Track B: 찻집 </a:t>
            </a:r>
            <a:r>
              <a:rPr lang="en-US" sz="1100" b="0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특화</a:t>
            </a:r>
            <a:r>
              <a:rPr lang="en-US" sz="1100" b="0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공급</a:t>
            </a:r>
            <a:r>
              <a:rPr lang="en-US" sz="1100" b="0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부족</a:t>
            </a:r>
            <a:r>
              <a:rPr lang="en-US" sz="1100" b="0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지수</a:t>
            </a:r>
            <a:r>
              <a:rPr lang="en-US" sz="1100" b="0" i="0" dirty="0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100" b="0" i="0" dirty="0" err="1">
                <a:solidFill>
                  <a:srgbClr val="1B3A2D"/>
                </a:solidFill>
                <a:latin typeface="Calibri"/>
                <a:ea typeface="Calibri"/>
                <a:cs typeface="Calibri"/>
                <a:sym typeface="Calibri"/>
              </a:rPr>
              <a:t>산출</a:t>
            </a:r>
            <a:endParaRPr dirty="0">
              <a:solidFill>
                <a:srgbClr val="1B3A2D"/>
              </a:solidFill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5577840" y="609826"/>
            <a:ext cx="3337560" cy="4069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29AA529-5791-4512-B344-8F5BEC97B604}"/>
              </a:ext>
            </a:extLst>
          </p:cNvPr>
          <p:cNvGrpSpPr/>
          <p:nvPr/>
        </p:nvGrpSpPr>
        <p:grpSpPr>
          <a:xfrm>
            <a:off x="6096035" y="740845"/>
            <a:ext cx="2209774" cy="2053028"/>
            <a:chOff x="6096035" y="862292"/>
            <a:chExt cx="2209774" cy="2053028"/>
          </a:xfrm>
        </p:grpSpPr>
        <p:sp>
          <p:nvSpPr>
            <p:cNvPr id="137" name="Google Shape;137;p2"/>
            <p:cNvSpPr/>
            <p:nvPr/>
          </p:nvSpPr>
          <p:spPr>
            <a:xfrm>
              <a:off x="6177363" y="862292"/>
              <a:ext cx="2084220" cy="2053028"/>
            </a:xfrm>
            <a:prstGeom prst="ellipse">
              <a:avLst/>
            </a:prstGeom>
            <a:solidFill>
              <a:srgbClr val="1B3A2D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"/>
            <p:cNvSpPr txBox="1"/>
            <p:nvPr/>
          </p:nvSpPr>
          <p:spPr>
            <a:xfrm>
              <a:off x="6183108" y="1261125"/>
              <a:ext cx="2122701" cy="7078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dirty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1,139</a:t>
              </a:r>
              <a:r>
                <a:rPr lang="ko-KR" altLang="en-US" sz="1050" b="1" i="0" dirty="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곳</a:t>
              </a:r>
              <a:endParaRPr sz="1100" dirty="0"/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6096035" y="2143388"/>
              <a:ext cx="21945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dirty="0" err="1">
                  <a:solidFill>
                    <a:srgbClr val="97BC62"/>
                  </a:solidFill>
                  <a:latin typeface="Calibri"/>
                  <a:ea typeface="Calibri"/>
                  <a:cs typeface="Calibri"/>
                  <a:sym typeface="Calibri"/>
                </a:rPr>
                <a:t>분석</a:t>
              </a:r>
              <a:r>
                <a:rPr lang="en-US" b="1" i="0" dirty="0">
                  <a:solidFill>
                    <a:srgbClr val="97BC6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200" b="1" i="0" dirty="0" err="1">
                  <a:solidFill>
                    <a:srgbClr val="97BC62"/>
                  </a:solidFill>
                  <a:latin typeface="Calibri"/>
                  <a:ea typeface="Calibri"/>
                  <a:cs typeface="Calibri"/>
                  <a:sym typeface="Calibri"/>
                </a:rPr>
                <a:t>대상</a:t>
              </a:r>
              <a:r>
                <a:rPr lang="en-US" b="1" i="0" dirty="0">
                  <a:solidFill>
                    <a:srgbClr val="97BC6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b="1" i="0" dirty="0" err="1">
                  <a:solidFill>
                    <a:srgbClr val="97BC62"/>
                  </a:solidFill>
                  <a:latin typeface="Calibri"/>
                  <a:ea typeface="Calibri"/>
                  <a:cs typeface="Calibri"/>
                  <a:sym typeface="Calibri"/>
                </a:rPr>
                <a:t>상권</a:t>
              </a:r>
              <a:endParaRPr sz="1800" b="1" dirty="0"/>
            </a:p>
          </p:txBody>
        </p:sp>
      </p:grpSp>
      <p:sp>
        <p:nvSpPr>
          <p:cNvPr id="140" name="Google Shape;140;p2"/>
          <p:cNvSpPr/>
          <p:nvPr/>
        </p:nvSpPr>
        <p:spPr>
          <a:xfrm>
            <a:off x="5719288" y="2944648"/>
            <a:ext cx="3017520" cy="13716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5624298" y="3134351"/>
            <a:ext cx="3383280" cy="746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sz="1100" b="0" i="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전통적 핫플레이스뿐만 아니라</a:t>
            </a:r>
            <a:br>
              <a:rPr lang="en-US" sz="1100" b="0" i="0" dirty="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altLang="en-US" b="1" dirty="0">
                <a:solidFill>
                  <a:srgbClr val="2D6A4F"/>
                </a:solidFill>
                <a:latin typeface="Calibri"/>
                <a:ea typeface="Calibri"/>
                <a:cs typeface="Calibri"/>
                <a:sym typeface="Calibri"/>
              </a:rPr>
              <a:t>숨겨진 골목상권까지</a:t>
            </a:r>
            <a:endParaRPr lang="en-US" altLang="ko-KR" b="1" dirty="0">
              <a:solidFill>
                <a:srgbClr val="2D6A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lnSpc>
                <a:spcPts val="1700"/>
              </a:lnSpc>
            </a:pPr>
            <a:r>
              <a:rPr lang="ko-KR" altLang="en-US" sz="1100" dirty="0">
                <a:solidFill>
                  <a:srgbClr val="64748B"/>
                </a:solidFill>
                <a:latin typeface="Calibri"/>
                <a:cs typeface="Calibri"/>
                <a:sym typeface="Calibri"/>
              </a:rPr>
              <a:t>전수 조사 수행</a:t>
            </a:r>
            <a:endParaRPr sz="1100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6744805" y="3997926"/>
            <a:ext cx="1824468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 err="1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서울시</a:t>
            </a:r>
            <a:r>
              <a:rPr lang="en-US" sz="1200" b="1" i="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찻집    </a:t>
            </a:r>
            <a:r>
              <a:rPr lang="en-US" sz="1200" b="1" i="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 246</a:t>
            </a:r>
            <a:r>
              <a:rPr lang="ko-KR" altLang="en-US" sz="1200" b="1" i="0" dirty="0">
                <a:solidFill>
                  <a:srgbClr val="00B05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곳</a:t>
            </a:r>
            <a:endParaRPr sz="1200" b="1" dirty="0">
              <a:solidFill>
                <a:srgbClr val="00B05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5777479" y="4393551"/>
            <a:ext cx="2925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r>
              <a:rPr lang="en-US" sz="900" b="0" i="0" dirty="0" err="1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카카오맵</a:t>
            </a:r>
            <a:r>
              <a:rPr lang="en-US" sz="900" b="0" i="0" dirty="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dirty="0" err="1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등록</a:t>
            </a:r>
            <a:r>
              <a:rPr lang="en-US" sz="900" b="0" i="0" dirty="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900" b="0" i="0" dirty="0" err="1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기준</a:t>
            </a:r>
            <a:r>
              <a:rPr lang="en-US" sz="900" b="0" i="0" dirty="0">
                <a:solidFill>
                  <a:srgbClr val="BDBDBD"/>
                </a:solidFill>
                <a:latin typeface="Calibri"/>
                <a:ea typeface="Calibri"/>
                <a:cs typeface="Calibri"/>
                <a:sym typeface="Calibri"/>
              </a:rPr>
              <a:t> (2025)</a:t>
            </a:r>
            <a:endParaRPr dirty="0"/>
          </a:p>
        </p:txBody>
      </p:sp>
      <p:pic>
        <p:nvPicPr>
          <p:cNvPr id="1026" name="Picture 2" descr="Green tea ">
            <a:extLst>
              <a:ext uri="{FF2B5EF4-FFF2-40B4-BE49-F238E27FC236}">
                <a16:creationId xmlns:a16="http://schemas.microsoft.com/office/drawing/2014/main" id="{65CB541A-AF24-479A-8034-10D339872D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760" y="3833459"/>
            <a:ext cx="567449" cy="567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txBody>
          <a:bodyPr wrap="square" rtlCol="0" anchor="ctr"/>
          <a:lstStyle/>
          <a:p>
            <a:endParaRPr/>
          </a:p>
        </p:txBody>
      </p:sp>
      <p:sp>
        <p:nvSpPr>
          <p:cNvPr id="3" name="TopBar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wrap="square" rtlCol="0" anchor="ctr"/>
          <a:lstStyle/>
          <a:p>
            <a:endParaRPr/>
          </a:p>
        </p:txBody>
      </p:sp>
      <p:sp>
        <p:nvSpPr>
          <p:cNvPr id="4" name="AccentBar"/>
          <p:cNvSpPr/>
          <p:nvPr/>
        </p:nvSpPr>
        <p:spPr>
          <a:xfrm>
            <a:off x="502920" y="30483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wrap="square" rtlCol="0" anchor="ctr"/>
          <a:lstStyle/>
          <a:p>
            <a:endParaRPr/>
          </a:p>
        </p:txBody>
      </p:sp>
      <p:sp>
        <p:nvSpPr>
          <p:cNvPr id="5" name="TitleText"/>
          <p:cNvSpPr txBox="1"/>
          <p:nvPr/>
        </p:nvSpPr>
        <p:spPr>
          <a:xfrm>
            <a:off x="658368" y="9144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l">
              <a:lnSpc>
                <a:spcPts val="1800"/>
              </a:lnSpc>
            </a:pPr>
            <a:r>
              <a:rPr lang="ko-KR" sz="2000" b="1" dirty="0">
                <a:solidFill>
                  <a:srgbClr val="1B3A2D"/>
                </a:solidFill>
              </a:rPr>
              <a:t>분석 프레임워크 전체 조감도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6217920" y="914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>
              <a:lnSpc>
                <a:spcPts val="1800"/>
              </a:lnSpc>
            </a:pPr>
            <a:r>
              <a:rPr lang="ko-KR" sz="1200" i="1" dirty="0">
                <a:solidFill>
                  <a:srgbClr val="64748B"/>
                </a:solidFill>
              </a:rPr>
              <a:t>Analysis Framework Overview</a:t>
            </a:r>
          </a:p>
        </p:txBody>
      </p:sp>
      <p:sp>
        <p:nvSpPr>
          <p:cNvPr id="7" name="FooterL"/>
          <p:cNvSpPr txBox="1"/>
          <p:nvPr/>
        </p:nvSpPr>
        <p:spPr>
          <a:xfrm>
            <a:off x="91440" y="4864308"/>
            <a:ext cx="3000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l">
              <a:lnSpc>
                <a:spcPts val="1800"/>
              </a:lnSpc>
            </a:pPr>
            <a:r>
              <a:rPr lang="ko-KR" sz="900" dirty="0">
                <a:solidFill>
                  <a:srgbClr val="64748B"/>
                </a:solidFill>
              </a:rPr>
              <a:t>서울 찻집 블루오션 상권 분석</a:t>
            </a:r>
          </a:p>
        </p:txBody>
      </p:sp>
      <p:sp>
        <p:nvSpPr>
          <p:cNvPr id="8" name="FooterC"/>
          <p:cNvSpPr txBox="1"/>
          <p:nvPr/>
        </p:nvSpPr>
        <p:spPr>
          <a:xfrm>
            <a:off x="3200000" y="4864308"/>
            <a:ext cx="274400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ko-KR" sz="900" dirty="0">
                <a:solidFill>
                  <a:srgbClr val="64748B"/>
                </a:solidFill>
              </a:rPr>
              <a:t>Framework Overview</a:t>
            </a:r>
          </a:p>
        </p:txBody>
      </p:sp>
      <p:sp>
        <p:nvSpPr>
          <p:cNvPr id="9" name="FooterR"/>
          <p:cNvSpPr txBox="1"/>
          <p:nvPr/>
        </p:nvSpPr>
        <p:spPr>
          <a:xfrm>
            <a:off x="6900000" y="4864308"/>
            <a:ext cx="2152560" cy="2286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r">
              <a:lnSpc>
                <a:spcPts val="1800"/>
              </a:lnSpc>
            </a:pPr>
            <a:r>
              <a:rPr lang="ko-KR" sz="900" dirty="0">
                <a:solidFill>
                  <a:srgbClr val="64748B"/>
                </a:solidFill>
              </a:rPr>
              <a:t>3 / 18</a:t>
            </a:r>
          </a:p>
        </p:txBody>
      </p:sp>
      <p:sp>
        <p:nvSpPr>
          <p:cNvPr id="10" name="Phase1Box"/>
          <p:cNvSpPr/>
          <p:nvPr/>
        </p:nvSpPr>
        <p:spPr>
          <a:xfrm>
            <a:off x="91440" y="500000"/>
            <a:ext cx="2050000" cy="43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C8B4"/>
            </a:solidFill>
          </a:ln>
        </p:spPr>
        <p:txBody>
          <a:bodyPr wrap="square" rtlCol="0" anchor="ctr"/>
          <a:lstStyle/>
          <a:p>
            <a:endParaRPr/>
          </a:p>
        </p:txBody>
      </p:sp>
      <p:sp>
        <p:nvSpPr>
          <p:cNvPr id="11" name="P1Header"/>
          <p:cNvSpPr/>
          <p:nvPr/>
        </p:nvSpPr>
        <p:spPr>
          <a:xfrm>
            <a:off x="91440" y="500000"/>
            <a:ext cx="2050000" cy="32000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ko-KR" sz="1400" b="1" dirty="0">
                <a:solidFill>
                  <a:srgbClr val="FFFFFF"/>
                </a:solidFill>
              </a:rPr>
              <a:t>PHASE 1  |  변수 확정</a:t>
            </a:r>
          </a:p>
        </p:txBody>
      </p:sp>
      <p:sp>
        <p:nvSpPr>
          <p:cNvPr id="12" name="P1Desc"/>
          <p:cNvSpPr txBox="1"/>
          <p:nvPr/>
        </p:nvSpPr>
        <p:spPr>
          <a:xfrm>
            <a:off x="171440" y="840000"/>
            <a:ext cx="1890000" cy="1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ko-KR" sz="1000" i="1" dirty="0">
                <a:solidFill>
                  <a:srgbClr val="64748B"/>
                </a:solidFill>
              </a:rPr>
              <a:t>Variable Screening</a:t>
            </a:r>
          </a:p>
        </p:txBody>
      </p:sp>
      <p:sp>
        <p:nvSpPr>
          <p:cNvPr id="13" name="P1Content"/>
          <p:cNvSpPr txBox="1"/>
          <p:nvPr/>
        </p:nvSpPr>
        <p:spPr>
          <a:xfrm>
            <a:off x="151440" y="1070000"/>
            <a:ext cx="1930000" cy="21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>
              <a:lnSpc>
                <a:spcPts val="1800"/>
              </a:lnSpc>
            </a:pPr>
            <a:r>
              <a:rPr lang="ko-KR" sz="1200" b="1" dirty="0">
                <a:solidFill>
                  <a:srgbClr val="1B3A2D"/>
                </a:solidFill>
              </a:rPr>
              <a:t>Raw Data</a:t>
            </a:r>
          </a:p>
          <a:p>
            <a:pPr algn="ctr">
              <a:lnSpc>
                <a:spcPts val="1400"/>
              </a:lnSpc>
            </a:pPr>
            <a:r>
              <a:rPr lang="ko-KR" sz="1050" dirty="0">
                <a:solidFill>
                  <a:srgbClr val="374151"/>
                </a:solidFill>
              </a:rPr>
              <a:t>9,760행  x  155개 변수</a:t>
            </a:r>
          </a:p>
          <a:p>
            <a:pPr algn="ctr">
              <a:lnSpc>
                <a:spcPts val="1800"/>
              </a:lnSpc>
            </a:pPr>
            <a:endParaRPr lang="en-US" altLang="ko-KR" sz="1050" dirty="0">
              <a:solidFill>
                <a:srgbClr val="374151"/>
              </a:solidFill>
            </a:endParaRPr>
          </a:p>
          <a:p>
            <a:pPr algn="ctr">
              <a:lnSpc>
                <a:spcPts val="1800"/>
              </a:lnSpc>
            </a:pPr>
            <a:endParaRPr lang="ko-KR" sz="1050" dirty="0">
              <a:solidFill>
                <a:srgbClr val="374151"/>
              </a:solidFill>
            </a:endParaRPr>
          </a:p>
          <a:p>
            <a:pPr algn="ctr">
              <a:lnSpc>
                <a:spcPts val="1300"/>
              </a:lnSpc>
            </a:pPr>
            <a:r>
              <a:rPr lang="ko-KR" sz="1050" i="1" dirty="0" err="1">
                <a:solidFill>
                  <a:srgbClr val="64748B"/>
                </a:solidFill>
              </a:rPr>
              <a:t>XGBoost</a:t>
            </a:r>
            <a:r>
              <a:rPr lang="ko-KR" sz="1050" i="1" dirty="0">
                <a:solidFill>
                  <a:srgbClr val="64748B"/>
                </a:solidFill>
              </a:rPr>
              <a:t> + SHAP</a:t>
            </a:r>
          </a:p>
          <a:p>
            <a:pPr algn="ctr">
              <a:lnSpc>
                <a:spcPts val="1400"/>
              </a:lnSpc>
            </a:pPr>
            <a:r>
              <a:rPr lang="ko-KR" sz="1100" b="1" dirty="0">
                <a:solidFill>
                  <a:srgbClr val="374151"/>
                </a:solidFill>
              </a:rPr>
              <a:t>22개 핵심 변수 추출</a:t>
            </a:r>
          </a:p>
          <a:p>
            <a:pPr algn="ctr">
              <a:lnSpc>
                <a:spcPts val="1800"/>
              </a:lnSpc>
            </a:pPr>
            <a:endParaRPr lang="en-US" altLang="ko-KR" sz="1100" b="1" dirty="0">
              <a:solidFill>
                <a:srgbClr val="374151"/>
              </a:solidFill>
            </a:endParaRPr>
          </a:p>
          <a:p>
            <a:pPr algn="ctr">
              <a:lnSpc>
                <a:spcPts val="1800"/>
              </a:lnSpc>
            </a:pPr>
            <a:endParaRPr lang="ko-KR" sz="1100" b="1" dirty="0">
              <a:solidFill>
                <a:srgbClr val="374151"/>
              </a:solidFill>
            </a:endParaRPr>
          </a:p>
          <a:p>
            <a:pPr algn="ctr">
              <a:lnSpc>
                <a:spcPts val="1300"/>
              </a:lnSpc>
            </a:pPr>
            <a:r>
              <a:rPr lang="ko-KR" sz="1050" i="1" dirty="0">
                <a:solidFill>
                  <a:srgbClr val="64748B"/>
                </a:solidFill>
              </a:rPr>
              <a:t>  Lasso + VIF &lt; 5</a:t>
            </a:r>
          </a:p>
          <a:p>
            <a:pPr algn="ctr">
              <a:lnSpc>
                <a:spcPts val="1400"/>
              </a:lnSpc>
            </a:pPr>
            <a:r>
              <a:rPr lang="ko-KR" sz="1200" b="1" dirty="0">
                <a:solidFill>
                  <a:srgbClr val="2D6A4F"/>
                </a:solidFill>
              </a:rPr>
              <a:t>최종 6개 수요 변수 확정</a:t>
            </a:r>
          </a:p>
        </p:txBody>
      </p:sp>
      <p:sp>
        <p:nvSpPr>
          <p:cNvPr id="14" name="P1Exclude"/>
          <p:cNvSpPr/>
          <p:nvPr/>
        </p:nvSpPr>
        <p:spPr>
          <a:xfrm>
            <a:off x="171440" y="3359313"/>
            <a:ext cx="1890000" cy="720000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</a:ln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ko-KR" sz="1100" b="1" dirty="0">
                <a:solidFill>
                  <a:srgbClr val="C0392B"/>
                </a:solidFill>
              </a:rPr>
              <a:t>⚠  공급 변수 의도적 제외</a:t>
            </a:r>
          </a:p>
          <a:p>
            <a:pPr algn="ctr">
              <a:lnSpc>
                <a:spcPts val="1400"/>
              </a:lnSpc>
            </a:pPr>
            <a:r>
              <a:rPr lang="ko-KR" sz="950" dirty="0">
                <a:solidFill>
                  <a:srgbClr val="C0392B"/>
                </a:solidFill>
              </a:rPr>
              <a:t>수요-공급 독립 측정을 위한 설계</a:t>
            </a:r>
          </a:p>
        </p:txBody>
      </p:sp>
      <p:sp>
        <p:nvSpPr>
          <p:cNvPr id="15" name="P1Output"/>
          <p:cNvSpPr/>
          <p:nvPr/>
        </p:nvSpPr>
        <p:spPr>
          <a:xfrm>
            <a:off x="171440" y="4219313"/>
            <a:ext cx="1890000" cy="463500"/>
          </a:xfrm>
          <a:prstGeom prst="rect">
            <a:avLst/>
          </a:prstGeom>
          <a:solidFill>
            <a:srgbClr val="EAF4EE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ko-KR" sz="900" b="1" dirty="0">
                <a:solidFill>
                  <a:srgbClr val="2D6A4F"/>
                </a:solidFill>
              </a:rPr>
              <a:t>OUTPUT</a:t>
            </a:r>
          </a:p>
          <a:p>
            <a:pPr algn="ctr">
              <a:lnSpc>
                <a:spcPts val="1400"/>
              </a:lnSpc>
            </a:pPr>
            <a:r>
              <a:rPr lang="ko-KR" sz="1050" b="1" dirty="0">
                <a:solidFill>
                  <a:srgbClr val="1B3A2D"/>
                </a:solidFill>
              </a:rPr>
              <a:t>6개 수요 변수 벡터</a:t>
            </a:r>
          </a:p>
        </p:txBody>
      </p:sp>
      <p:sp>
        <p:nvSpPr>
          <p:cNvPr id="16" name="Arrow1"/>
          <p:cNvSpPr/>
          <p:nvPr/>
        </p:nvSpPr>
        <p:spPr>
          <a:xfrm>
            <a:off x="2201440" y="2564681"/>
            <a:ext cx="240000" cy="18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Phase2Box"/>
          <p:cNvSpPr/>
          <p:nvPr/>
        </p:nvSpPr>
        <p:spPr>
          <a:xfrm>
            <a:off x="2501440" y="500000"/>
            <a:ext cx="3750000" cy="43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C8B4"/>
            </a:solidFill>
          </a:ln>
        </p:spPr>
        <p:txBody>
          <a:bodyPr wrap="square" rtlCol="0" anchor="ctr"/>
          <a:lstStyle/>
          <a:p>
            <a:endParaRPr/>
          </a:p>
        </p:txBody>
      </p:sp>
      <p:sp>
        <p:nvSpPr>
          <p:cNvPr id="18" name="P2Header"/>
          <p:cNvSpPr/>
          <p:nvPr/>
        </p:nvSpPr>
        <p:spPr>
          <a:xfrm>
            <a:off x="2501440" y="500000"/>
            <a:ext cx="3750000" cy="32000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ko-KR" sz="1400" b="1" dirty="0">
                <a:solidFill>
                  <a:srgbClr val="FFFFFF"/>
                </a:solidFill>
              </a:rPr>
              <a:t>PHASE 2  |  2-Track 독립 분석</a:t>
            </a:r>
          </a:p>
        </p:txBody>
      </p:sp>
      <p:sp>
        <p:nvSpPr>
          <p:cNvPr id="19" name="P2Desc"/>
          <p:cNvSpPr txBox="1"/>
          <p:nvPr/>
        </p:nvSpPr>
        <p:spPr>
          <a:xfrm>
            <a:off x="2581440" y="840000"/>
            <a:ext cx="3590000" cy="1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ko-KR" sz="1000" i="1" dirty="0">
                <a:solidFill>
                  <a:srgbClr val="64748B"/>
                </a:solidFill>
              </a:rPr>
              <a:t>DEMAND(수요)  x  SUPPLY(공급)  독립 측정</a:t>
            </a:r>
          </a:p>
        </p:txBody>
      </p:sp>
      <p:sp>
        <p:nvSpPr>
          <p:cNvPr id="20" name="WhyCallout"/>
          <p:cNvSpPr/>
          <p:nvPr/>
        </p:nvSpPr>
        <p:spPr>
          <a:xfrm>
            <a:off x="2581440" y="1102242"/>
            <a:ext cx="3590000" cy="859221"/>
          </a:xfrm>
          <a:prstGeom prst="rect">
            <a:avLst/>
          </a:prstGeom>
          <a:solidFill>
            <a:srgbClr val="FFF9E6"/>
          </a:solidFill>
          <a:ln w="25400">
            <a:solidFill>
              <a:srgbClr val="E9B84A"/>
            </a:solidFill>
          </a:ln>
        </p:spPr>
        <p:txBody>
          <a:bodyPr wrap="square" rtlCol="0" anchor="t"/>
          <a:lstStyle/>
          <a:p>
            <a:pPr algn="l">
              <a:lnSpc>
                <a:spcPts val="1800"/>
              </a:lnSpc>
            </a:pPr>
            <a:r>
              <a:rPr lang="ko-KR" sz="1150" b="1" dirty="0">
                <a:solidFill>
                  <a:srgbClr val="7D4E00"/>
                </a:solidFill>
              </a:rPr>
              <a:t>❓ 왜 2-Track으로 나누는가?</a:t>
            </a:r>
          </a:p>
          <a:p>
            <a:pPr algn="l">
              <a:lnSpc>
                <a:spcPts val="1400"/>
              </a:lnSpc>
            </a:pPr>
            <a:r>
              <a:rPr lang="ko-KR" sz="1000" dirty="0">
                <a:solidFill>
                  <a:srgbClr val="5D3A00"/>
                </a:solidFill>
              </a:rPr>
              <a:t>공급변수를 Track A(수요 모델)에 포함 시,</a:t>
            </a:r>
          </a:p>
          <a:p>
            <a:pPr algn="l">
              <a:lnSpc>
                <a:spcPts val="1400"/>
              </a:lnSpc>
            </a:pPr>
            <a:r>
              <a:rPr lang="ko-KR" sz="1000" b="1" dirty="0">
                <a:solidFill>
                  <a:srgbClr val="922B21"/>
                </a:solidFill>
              </a:rPr>
              <a:t>잔차가 공급 부재를 흡수 ▶ 블루오션 신호 소멸</a:t>
            </a:r>
          </a:p>
          <a:p>
            <a:pPr algn="l">
              <a:lnSpc>
                <a:spcPts val="1400"/>
              </a:lnSpc>
            </a:pPr>
            <a:r>
              <a:rPr lang="ko-KR" sz="1000" i="1" dirty="0">
                <a:solidFill>
                  <a:srgbClr val="5D3A00"/>
                </a:solidFill>
              </a:rPr>
              <a:t>따라서 수요(A)와 공급(B)는 반드시 독립 측정</a:t>
            </a:r>
          </a:p>
        </p:txBody>
      </p:sp>
      <p:sp>
        <p:nvSpPr>
          <p:cNvPr id="21" name="TrackABox"/>
          <p:cNvSpPr/>
          <p:nvPr/>
        </p:nvSpPr>
        <p:spPr>
          <a:xfrm>
            <a:off x="2581440" y="2052531"/>
            <a:ext cx="1755000" cy="130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rtlCol="0" anchor="t"/>
          <a:lstStyle/>
          <a:p>
            <a:pPr algn="ctr">
              <a:lnSpc>
                <a:spcPts val="1800"/>
              </a:lnSpc>
            </a:pPr>
            <a:r>
              <a:rPr lang="ko-KR" sz="1200" b="1" dirty="0">
                <a:solidFill>
                  <a:srgbClr val="FFFFFF"/>
                </a:solidFill>
              </a:rPr>
              <a:t>Track A : 수요 예측 모델</a:t>
            </a:r>
          </a:p>
          <a:p>
            <a:pPr algn="ctr">
              <a:lnSpc>
                <a:spcPts val="1400"/>
              </a:lnSpc>
            </a:pPr>
            <a:r>
              <a:rPr lang="ko-KR" sz="1000" dirty="0">
                <a:solidFill>
                  <a:srgbClr val="D6EAF8"/>
                </a:solidFill>
              </a:rPr>
              <a:t>Pooled OLS + GroupKFold</a:t>
            </a:r>
          </a:p>
          <a:p>
            <a:pPr algn="ctr">
              <a:lnSpc>
                <a:spcPts val="1800"/>
              </a:lnSpc>
            </a:pPr>
            <a:endParaRPr lang="ko-KR" sz="1000" dirty="0">
              <a:solidFill>
                <a:srgbClr val="D6EAF8"/>
              </a:solidFill>
            </a:endParaRPr>
          </a:p>
          <a:p>
            <a:pPr algn="ctr">
              <a:lnSpc>
                <a:spcPts val="1400"/>
              </a:lnSpc>
            </a:pPr>
            <a:r>
              <a:rPr lang="ko-KR" sz="1050" b="1" dirty="0">
                <a:solidFill>
                  <a:srgbClr val="FDFEFE"/>
                </a:solidFill>
              </a:rPr>
              <a:t>OUTPUT : OOF 잔차</a:t>
            </a:r>
          </a:p>
          <a:p>
            <a:pPr algn="ctr">
              <a:lnSpc>
                <a:spcPts val="1300"/>
              </a:lnSpc>
            </a:pPr>
            <a:r>
              <a:rPr lang="ko-KR" sz="1000" dirty="0">
                <a:solidFill>
                  <a:srgbClr val="AED6F1"/>
                </a:solidFill>
              </a:rPr>
              <a:t>음수(-) = 수요 대비 저성과</a:t>
            </a:r>
          </a:p>
          <a:p>
            <a:pPr algn="ctr">
              <a:lnSpc>
                <a:spcPts val="1300"/>
              </a:lnSpc>
            </a:pPr>
            <a:r>
              <a:rPr lang="ko-KR" sz="1000" b="1" dirty="0">
                <a:solidFill>
                  <a:srgbClr val="FFFFFF"/>
                </a:solidFill>
              </a:rPr>
              <a:t>= 미실현 잠재 수요 신호</a:t>
            </a:r>
          </a:p>
        </p:txBody>
      </p:sp>
      <p:sp>
        <p:nvSpPr>
          <p:cNvPr id="22" name="TrackBBox"/>
          <p:cNvSpPr/>
          <p:nvPr/>
        </p:nvSpPr>
        <p:spPr>
          <a:xfrm>
            <a:off x="4416440" y="2052532"/>
            <a:ext cx="1755000" cy="1300000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rtlCol="0" anchor="t"/>
          <a:lstStyle/>
          <a:p>
            <a:pPr algn="ctr">
              <a:lnSpc>
                <a:spcPts val="1800"/>
              </a:lnSpc>
            </a:pPr>
            <a:r>
              <a:rPr lang="ko-KR" sz="1200" b="1" dirty="0">
                <a:solidFill>
                  <a:srgbClr val="FFFFFF"/>
                </a:solidFill>
              </a:rPr>
              <a:t>Track B : 공급 부족 지수</a:t>
            </a:r>
          </a:p>
          <a:p>
            <a:pPr algn="ctr">
              <a:lnSpc>
                <a:spcPts val="1400"/>
              </a:lnSpc>
            </a:pPr>
            <a:r>
              <a:rPr lang="ko-KR" sz="1000" dirty="0">
                <a:solidFill>
                  <a:srgbClr val="FADBD8"/>
                </a:solidFill>
              </a:rPr>
              <a:t>별도 계산 (모델 外)</a:t>
            </a:r>
          </a:p>
          <a:p>
            <a:pPr algn="ctr">
              <a:lnSpc>
                <a:spcPts val="1800"/>
              </a:lnSpc>
            </a:pPr>
            <a:endParaRPr lang="ko-KR" sz="1000" dirty="0">
              <a:solidFill>
                <a:srgbClr val="FADBD8"/>
              </a:solidFill>
            </a:endParaRPr>
          </a:p>
          <a:p>
            <a:pPr algn="ctr">
              <a:lnSpc>
                <a:spcPts val="1400"/>
              </a:lnSpc>
            </a:pPr>
            <a:r>
              <a:rPr lang="ko-KR" sz="1050" b="1" dirty="0">
                <a:solidFill>
                  <a:srgbClr val="FDFEFE"/>
                </a:solidFill>
              </a:rPr>
              <a:t>OUTPUT : 복합 공급 점수</a:t>
            </a:r>
          </a:p>
          <a:p>
            <a:pPr algn="ctr">
              <a:lnSpc>
                <a:spcPts val="1300"/>
              </a:lnSpc>
            </a:pPr>
            <a:r>
              <a:rPr lang="ko-KR" sz="1000" dirty="0">
                <a:solidFill>
                  <a:srgbClr val="F9EBEA"/>
                </a:solidFill>
              </a:rPr>
              <a:t>높음(+) = 찻집 공백 큼</a:t>
            </a:r>
          </a:p>
          <a:p>
            <a:pPr algn="ctr">
              <a:lnSpc>
                <a:spcPts val="1300"/>
              </a:lnSpc>
            </a:pPr>
            <a:r>
              <a:rPr lang="ko-KR" sz="1000" b="1" dirty="0">
                <a:solidFill>
                  <a:srgbClr val="FFFFFF"/>
                </a:solidFill>
              </a:rPr>
              <a:t>= 선점 기회 존재</a:t>
            </a:r>
          </a:p>
        </p:txBody>
      </p:sp>
      <p:pic>
        <p:nvPicPr>
          <p:cNvPr id="23" name="ModelCompImg"/>
          <p:cNvPicPr/>
          <p:nvPr/>
        </p:nvPicPr>
        <p:blipFill>
          <a:blip r:embed="rId2"/>
          <a:stretch>
            <a:fillRect/>
          </a:stretch>
        </p:blipFill>
        <p:spPr>
          <a:xfrm>
            <a:off x="2581440" y="3285067"/>
            <a:ext cx="3590000" cy="1528649"/>
          </a:xfrm>
          <a:prstGeom prst="rect">
            <a:avLst/>
          </a:prstGeom>
        </p:spPr>
      </p:pic>
      <p:sp>
        <p:nvSpPr>
          <p:cNvPr id="24" name="Arrow2"/>
          <p:cNvSpPr/>
          <p:nvPr/>
        </p:nvSpPr>
        <p:spPr>
          <a:xfrm>
            <a:off x="6311440" y="2564681"/>
            <a:ext cx="240000" cy="180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Phase3Box"/>
          <p:cNvSpPr/>
          <p:nvPr/>
        </p:nvSpPr>
        <p:spPr>
          <a:xfrm>
            <a:off x="6611440" y="500000"/>
            <a:ext cx="2441120" cy="435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0C8B4"/>
            </a:solidFill>
          </a:ln>
        </p:spPr>
        <p:txBody>
          <a:bodyPr wrap="square" rtlCol="0" anchor="ctr"/>
          <a:lstStyle/>
          <a:p>
            <a:endParaRPr/>
          </a:p>
        </p:txBody>
      </p:sp>
      <p:sp>
        <p:nvSpPr>
          <p:cNvPr id="26" name="P3Header"/>
          <p:cNvSpPr/>
          <p:nvPr/>
        </p:nvSpPr>
        <p:spPr>
          <a:xfrm>
            <a:off x="6611440" y="500000"/>
            <a:ext cx="2441120" cy="320000"/>
          </a:xfrm>
          <a:prstGeom prst="rect">
            <a:avLst/>
          </a:prstGeom>
          <a:solidFill>
            <a:srgbClr val="2D4A3E"/>
          </a:solidFill>
          <a:ln>
            <a:noFill/>
          </a:ln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ko-KR" sz="1400" b="1" dirty="0">
                <a:solidFill>
                  <a:srgbClr val="FFFFFF"/>
                </a:solidFill>
              </a:rPr>
              <a:t>PHASE 3  |  통합 &amp; 전략</a:t>
            </a:r>
          </a:p>
        </p:txBody>
      </p:sp>
      <p:sp>
        <p:nvSpPr>
          <p:cNvPr id="27" name="P3Desc"/>
          <p:cNvSpPr txBox="1"/>
          <p:nvPr/>
        </p:nvSpPr>
        <p:spPr>
          <a:xfrm>
            <a:off x="6671440" y="840000"/>
            <a:ext cx="2321120" cy="18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ko-KR" sz="1000" i="1" dirty="0">
                <a:solidFill>
                  <a:srgbClr val="64748B"/>
                </a:solidFill>
              </a:rPr>
              <a:t>Integration &amp; Strategy</a:t>
            </a:r>
          </a:p>
        </p:txBody>
      </p:sp>
      <p:sp>
        <p:nvSpPr>
          <p:cNvPr id="28" name="P3Formula"/>
          <p:cNvSpPr/>
          <p:nvPr/>
        </p:nvSpPr>
        <p:spPr>
          <a:xfrm>
            <a:off x="6691440" y="1030000"/>
            <a:ext cx="2281120" cy="480000"/>
          </a:xfrm>
          <a:prstGeom prst="rect">
            <a:avLst/>
          </a:prstGeom>
          <a:solidFill>
            <a:srgbClr val="EAF4EE"/>
          </a:solidFill>
          <a:ln w="19050">
            <a:solidFill>
              <a:srgbClr val="2D6A4F"/>
            </a:solidFill>
          </a:ln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ko-KR" sz="1150" b="1" dirty="0">
                <a:solidFill>
                  <a:srgbClr val="1A5276"/>
                </a:solidFill>
              </a:rPr>
              <a:t>수요 미실현</a:t>
            </a:r>
            <a:r>
              <a:rPr lang="ko-KR" sz="1150" b="1" dirty="0">
                <a:solidFill>
                  <a:srgbClr val="374151"/>
                </a:solidFill>
              </a:rPr>
              <a:t>  x  </a:t>
            </a:r>
            <a:r>
              <a:rPr lang="ko-KR" sz="1150" b="1" dirty="0">
                <a:solidFill>
                  <a:srgbClr val="922B21"/>
                </a:solidFill>
              </a:rPr>
              <a:t>공급 공백</a:t>
            </a:r>
          </a:p>
          <a:p>
            <a:pPr algn="ctr">
              <a:lnSpc>
                <a:spcPts val="1500"/>
              </a:lnSpc>
            </a:pPr>
            <a:r>
              <a:rPr lang="ko-KR" sz="1350" b="1" dirty="0">
                <a:solidFill>
                  <a:srgbClr val="2D6A4F"/>
                </a:solidFill>
              </a:rPr>
              <a:t>=  블루오션  ★</a:t>
            </a:r>
          </a:p>
        </p:txBody>
      </p:sp>
      <p:sp>
        <p:nvSpPr>
          <p:cNvPr id="29" name="Q1Box"/>
          <p:cNvSpPr/>
          <p:nvPr/>
        </p:nvSpPr>
        <p:spPr>
          <a:xfrm>
            <a:off x="6691440" y="1610000"/>
            <a:ext cx="2281120" cy="480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ko-KR" sz="1150" b="1" dirty="0">
                <a:solidFill>
                  <a:srgbClr val="FFFFFF"/>
                </a:solidFill>
              </a:rPr>
              <a:t>★ Q1  안전 진입 전략</a:t>
            </a:r>
          </a:p>
          <a:p>
            <a:pPr algn="ctr">
              <a:lnSpc>
                <a:spcPts val="1300"/>
              </a:lnSpc>
            </a:pPr>
            <a:r>
              <a:rPr lang="ko-KR" sz="950" dirty="0">
                <a:solidFill>
                  <a:srgbClr val="D6EAF8"/>
                </a:solidFill>
              </a:rPr>
              <a:t>수요 검증 + 찻집 공급 공백</a:t>
            </a:r>
          </a:p>
        </p:txBody>
      </p:sp>
      <p:sp>
        <p:nvSpPr>
          <p:cNvPr id="30" name="Q2Box"/>
          <p:cNvSpPr/>
          <p:nvPr/>
        </p:nvSpPr>
        <p:spPr>
          <a:xfrm>
            <a:off x="6691440" y="2291572"/>
            <a:ext cx="2281120" cy="473427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txBody>
          <a:bodyPr wrap="square" rtlCol="0" anchor="ctr"/>
          <a:lstStyle/>
          <a:p>
            <a:pPr algn="ctr">
              <a:lnSpc>
                <a:spcPts val="1800"/>
              </a:lnSpc>
            </a:pPr>
            <a:r>
              <a:rPr lang="ko-KR" sz="1150" b="1" dirty="0">
                <a:solidFill>
                  <a:srgbClr val="FFFFFF"/>
                </a:solidFill>
              </a:rPr>
              <a:t>★ Q2  선점 투자 전략</a:t>
            </a:r>
          </a:p>
          <a:p>
            <a:pPr algn="ctr">
              <a:lnSpc>
                <a:spcPts val="1300"/>
              </a:lnSpc>
            </a:pPr>
            <a:r>
              <a:rPr lang="ko-KR" sz="950" dirty="0">
                <a:solidFill>
                  <a:srgbClr val="FADBD8"/>
                </a:solidFill>
              </a:rPr>
              <a:t>잠재수요 미실현 + 니치 선점</a:t>
            </a:r>
          </a:p>
        </p:txBody>
      </p:sp>
      <p:pic>
        <p:nvPicPr>
          <p:cNvPr id="31" name="MatrixImg"/>
          <p:cNvPicPr/>
          <p:nvPr/>
        </p:nvPicPr>
        <p:blipFill>
          <a:blip r:embed="rId3"/>
          <a:stretch>
            <a:fillRect/>
          </a:stretch>
        </p:blipFill>
        <p:spPr>
          <a:xfrm>
            <a:off x="6671440" y="2966571"/>
            <a:ext cx="2321120" cy="1733429"/>
          </a:xfrm>
          <a:prstGeom prst="rect">
            <a:avLst/>
          </a:prstGeom>
        </p:spPr>
      </p:pic>
      <p:sp>
        <p:nvSpPr>
          <p:cNvPr id="33" name="Arrow1">
            <a:extLst>
              <a:ext uri="{FF2B5EF4-FFF2-40B4-BE49-F238E27FC236}">
                <a16:creationId xmlns:a16="http://schemas.microsoft.com/office/drawing/2014/main" id="{E99C6FF6-A578-407E-8FF7-AB7A34B6DCEF}"/>
              </a:ext>
            </a:extLst>
          </p:cNvPr>
          <p:cNvSpPr/>
          <p:nvPr/>
        </p:nvSpPr>
        <p:spPr>
          <a:xfrm rot="5400000">
            <a:off x="1025921" y="1687785"/>
            <a:ext cx="166703" cy="12502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Arrow1">
            <a:extLst>
              <a:ext uri="{FF2B5EF4-FFF2-40B4-BE49-F238E27FC236}">
                <a16:creationId xmlns:a16="http://schemas.microsoft.com/office/drawing/2014/main" id="{8CB7EF53-3F01-42C3-9FAF-EF78FC28B4ED}"/>
              </a:ext>
            </a:extLst>
          </p:cNvPr>
          <p:cNvSpPr/>
          <p:nvPr/>
        </p:nvSpPr>
        <p:spPr>
          <a:xfrm rot="5400000">
            <a:off x="1008988" y="2503975"/>
            <a:ext cx="166703" cy="125027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D6A4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데이터 소개 및 수집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Data Overview &amp; Collection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2. Data &amp;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4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21792"/>
            <a:ext cx="8321040" cy="868680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400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7BC62"/>
                </a:solidFill>
                <a:latin typeface="Calibri"/>
              </a:rPr>
              <a:t>TOTAL DATASET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822960"/>
            <a:ext cx="6217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Georgia"/>
              </a:rPr>
              <a:t>9,760 Rows</a:t>
            </a:r>
            <a:r>
              <a:rPr sz="2000">
                <a:solidFill>
                  <a:srgbClr val="97BC62"/>
                </a:solidFill>
              </a:rPr>
              <a:t>  |  </a:t>
            </a:r>
            <a:r>
              <a:rPr sz="2600" b="1">
                <a:solidFill>
                  <a:srgbClr val="FFFFFF"/>
                </a:solidFill>
                <a:latin typeface="Georgia"/>
              </a:rPr>
              <a:t>155 Variables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152144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6D0"/>
                </a:solidFill>
                <a:latin typeface="Calibri"/>
              </a:rPr>
              <a:t>🗂  서울시 1,139개 상권 × 9개 분기 (2023Q3 ~ 2025Q3)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508760"/>
            <a:ext cx="5212080" cy="292608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" y="1536192"/>
            <a:ext cx="6400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구분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153619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주요 변수 내용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153619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데이터 출처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1801368"/>
            <a:ext cx="5212080" cy="548640"/>
          </a:xfrm>
          <a:prstGeom prst="rect">
            <a:avLst/>
          </a:prstGeom>
          <a:solidFill>
            <a:srgbClr val="EBF4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" y="1911095"/>
            <a:ext cx="548640" cy="25603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1920240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수요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1847088"/>
            <a:ext cx="2715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2D"/>
                </a:solidFill>
                <a:latin typeface="Calibri"/>
              </a:rPr>
              <a:t>인구·소득·인프라
유동/직장/상주인구, 월평균소득, 아파트시가, 집객시설수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1892807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서울시 상권분석
서비스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368296"/>
            <a:ext cx="5212080" cy="548640"/>
          </a:xfrm>
          <a:prstGeom prst="rect">
            <a:avLst/>
          </a:prstGeom>
          <a:solidFill>
            <a:srgbClr val="FFF8E8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8912" y="2478024"/>
            <a:ext cx="548640" cy="256032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38912" y="2487168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트렌드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414015"/>
            <a:ext cx="2715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2D"/>
                </a:solidFill>
                <a:latin typeface="Calibri"/>
              </a:rPr>
              <a:t>관심도·성장성
카페 검색량 지수, 검색량 성장률, 업종별 개업률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13632" y="2459736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네이버 데이터랩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2935224"/>
            <a:ext cx="5212080" cy="548640"/>
          </a:xfrm>
          <a:prstGeom prst="rect">
            <a:avLst/>
          </a:prstGeom>
          <a:solidFill>
            <a:srgbClr val="FDECE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" y="3044952"/>
            <a:ext cx="54864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" y="3054096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공급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2980944"/>
            <a:ext cx="2715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2D"/>
                </a:solidFill>
                <a:latin typeface="Calibri"/>
              </a:rPr>
              <a:t>경쟁 현황
찻집 수, 카페 점포수, 스타벅스 리저브 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13632" y="30266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카카오맵 API
(직접 크롤링)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502152"/>
            <a:ext cx="5212080" cy="548640"/>
          </a:xfrm>
          <a:prstGeom prst="rect">
            <a:avLst/>
          </a:prstGeom>
          <a:solidFill>
            <a:srgbClr val="F0F4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8912" y="3611880"/>
            <a:ext cx="548640" cy="25603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" y="3621024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접근성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" y="3547872"/>
            <a:ext cx="2715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2D"/>
                </a:solidFill>
                <a:latin typeface="Calibri"/>
              </a:rPr>
              <a:t>교통 환경
반경 내 지하철역 수, 노선 수 (좌표 매핑)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13632" y="35935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자체 수집
+ 좌표 계산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069080"/>
            <a:ext cx="5212080" cy="548640"/>
          </a:xfrm>
          <a:prstGeom prst="rect">
            <a:avLst/>
          </a:prstGeom>
          <a:solidFill>
            <a:srgbClr val="E8F4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8912" y="4178808"/>
            <a:ext cx="548640" cy="2560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8912" y="4187952"/>
            <a:ext cx="548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매출(Y)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4114800"/>
            <a:ext cx="2715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2D"/>
                </a:solidFill>
                <a:latin typeface="Calibri"/>
              </a:rPr>
              <a:t>시장 규모 대리변수
카페·음료 업종 전체 분기 매출 (log 변환)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3632" y="416052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서울시 상권분석
서비스 API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80" y="1508760"/>
            <a:ext cx="292608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89320" y="15819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B3A2D"/>
                </a:solidFill>
                <a:latin typeface="Calibri"/>
              </a:rPr>
              <a:t>3D Panel Data Cube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49440" y="1892807"/>
            <a:ext cx="594360" cy="2286000"/>
          </a:xfrm>
          <a:prstGeom prst="rect">
            <a:avLst/>
          </a:prstGeom>
          <a:solidFill>
            <a:srgbClr val="E573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080760" y="3474720"/>
            <a:ext cx="1371600" cy="731520"/>
          </a:xfrm>
          <a:prstGeom prst="rect">
            <a:avLst/>
          </a:prstGeom>
          <a:solidFill>
            <a:srgbClr val="64B5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7562088" y="3840479"/>
            <a:ext cx="1097280" cy="502920"/>
          </a:xfrm>
          <a:prstGeom prst="rect">
            <a:avLst/>
          </a:prstGeom>
          <a:solidFill>
            <a:srgbClr val="81C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89320" y="2971800"/>
            <a:ext cx="2651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B3A2D"/>
                </a:solidFill>
                <a:latin typeface="Georgia"/>
              </a:rPr>
              <a:t>9,760
Observations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2552" y="1892807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62828"/>
                </a:solidFill>
                <a:latin typeface="Calibri"/>
              </a:rPr>
              <a:t>Spatial Units
(Height)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42336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965A3"/>
                </a:solidFill>
                <a:latin typeface="Calibri"/>
              </a:rPr>
              <a:t>Feature Space (Depth)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441655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7D32"/>
                </a:solidFill>
                <a:latin typeface="Calibri"/>
              </a:rPr>
              <a:t>Temporal (Width)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0760" y="46634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Variables
(155)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95160" y="46634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Districts
(1,139)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09560" y="4663440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4748B"/>
                </a:solidFill>
                <a:latin typeface="Calibri"/>
              </a:rPr>
              <a:t>9 Quarters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Y변수 선택 논리와 분포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Target Variable Selection &amp;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2. Data &amp;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5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21792"/>
            <a:ext cx="2788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621792"/>
            <a:ext cx="54864" cy="107899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39496" y="713232"/>
            <a:ext cx="292608" cy="292608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9496" y="73152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400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시장 규모 대리 (Market Proxy)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96012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찻집만의 매출이 아닌 카페·음료 업종 전체 매출을 Y로 정의.
해당 상권의 "음료 소비 총량(TAM)"을 측정.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621792"/>
            <a:ext cx="2788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37560" y="621792"/>
            <a:ext cx="54864" cy="107899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65576" y="713232"/>
            <a:ext cx="292608" cy="292608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5576" y="73152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6400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  <a:latin typeface="Calibri"/>
              </a:rPr>
              <a:t>Zero-Inflation 문제 회피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96012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찻집이 없는 상권은 매출이 0이므로 수요 예측 불가능.
전체 음료시장 데이터로 잠재 수요 존재함을 입증.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621792"/>
            <a:ext cx="27889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621792"/>
            <a:ext cx="54864" cy="1078992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391656" y="713232"/>
            <a:ext cx="292608" cy="292608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91656" y="73152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6400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6914"/>
                </a:solidFill>
                <a:latin typeface="Calibri"/>
              </a:rPr>
              <a:t>Log Transformation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960120"/>
            <a:ext cx="26334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원 데이터 왜도 6.04 → log1p 변환 후 -0.15.
선형 회귀 모델의 정규성 가정 충족 및 이상치 영향 완화.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17190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1828800"/>
            <a:ext cx="832104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25_eda_y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01952"/>
            <a:ext cx="8138160" cy="2212848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11480" y="4251960"/>
            <a:ext cx="8321040" cy="566928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30352" y="4325112"/>
            <a:ext cx="292608" cy="292608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4343400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3A2D"/>
                </a:solidFill>
                <a:latin typeface="Calibri"/>
              </a:rPr>
              <a:t>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" y="4279392"/>
            <a:ext cx="7680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4E6D0"/>
                </a:solidFill>
                <a:latin typeface="Calibri"/>
              </a:rPr>
              <a:t>Key Insight: 원본 데이터는 명동·강남 등 소수 대형 상권에 의해 극심한 우편향(왜도 6.04). 로그 변환 후 정규분포에 매우 근사하며, 분기별 분포 중앙값과 사분위 범위도 안정적으로 유지.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2D"/>
                </a:solidFill>
                <a:latin typeface="Georgia"/>
              </a:rPr>
              <a:t>Feature Selection: 155개 → 22개 → 최종 6개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Variable Selection Process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2. Data &amp;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6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21792"/>
            <a:ext cx="219456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4008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155개 전체 변수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4328" y="64008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62179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1차: XGBoost (22개)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27832" y="621792"/>
            <a:ext cx="2194560" cy="34747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27832" y="64008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22개 대표 변수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640080"/>
            <a:ext cx="457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D6A4F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621792"/>
            <a:ext cx="4754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4748B"/>
                </a:solidFill>
                <a:latin typeface="Calibri"/>
              </a:rPr>
              <a:t>2차: Lasso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44184" y="621792"/>
            <a:ext cx="2194560" cy="347472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44184" y="64008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최종 6개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50608" y="621792"/>
            <a:ext cx="1581912" cy="34747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50608" y="630936"/>
            <a:ext cx="1581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Linear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1078992"/>
            <a:ext cx="420624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1078992"/>
            <a:ext cx="2926080" cy="2743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1088136"/>
            <a:ext cx="292608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Non-Linear  1차 스크리닝 - SHAP 중요도</a:t>
            </a:r>
          </a:p>
        </p:txBody>
      </p:sp>
      <p:pic>
        <p:nvPicPr>
          <p:cNvPr id="26" name="Picture 25" descr="31_fs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114800" cy="28346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754880" y="1078992"/>
            <a:ext cx="400507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754880" y="1078992"/>
            <a:ext cx="25603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54880" y="1088136"/>
            <a:ext cx="25603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Final  최종 확정 6개 수요 변수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1417320"/>
            <a:ext cx="190195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873752" y="1490472"/>
            <a:ext cx="320040" cy="320040"/>
          </a:xfrm>
          <a:prstGeom prst="ellipse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73752" y="15087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147218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집객시설_수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170992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6A4F"/>
                </a:solidFill>
                <a:latin typeface="Calibri"/>
              </a:rPr>
              <a:t>수요-인프라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3752" y="19842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SHAP 2위 | VIF 2.89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75704" y="1417320"/>
            <a:ext cx="190195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848856" y="1490472"/>
            <a:ext cx="320040" cy="320040"/>
          </a:xfrm>
          <a:prstGeom prst="ellipse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48856" y="15087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2904" y="1472184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총_직장_인구_수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32904" y="1709928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6A4F"/>
                </a:solidFill>
                <a:latin typeface="Calibri"/>
              </a:rPr>
              <a:t>인구 대표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48856" y="19842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SHAP 3위 | VIF 1.72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0600" y="2350008"/>
            <a:ext cx="190195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873752" y="2423160"/>
            <a:ext cx="320040" cy="320040"/>
          </a:xfrm>
          <a:prstGeom prst="ellipse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873752" y="24414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57800" y="2404872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월_평균_소득_금액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2642616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6A4F"/>
                </a:solidFill>
                <a:latin typeface="Calibri"/>
              </a:rPr>
              <a:t>소비력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73752" y="29169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SHAP 4위 | VIF 3.28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75704" y="2350008"/>
            <a:ext cx="190195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6848856" y="2423160"/>
            <a:ext cx="320040" cy="320040"/>
          </a:xfrm>
          <a:prstGeom prst="ellipse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848856" y="24414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32904" y="2404872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총_가구_수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32904" y="2642616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6A4F"/>
                </a:solidFill>
                <a:latin typeface="Calibri"/>
              </a:rPr>
              <a:t>상주 소비층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48856" y="2916936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SHAP 7위 | VIF 2.37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00600" y="3282696"/>
            <a:ext cx="190195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4873752" y="3355848"/>
            <a:ext cx="320040" cy="320040"/>
          </a:xfrm>
          <a:prstGeom prst="ellipse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73752" y="337413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57800" y="333756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카페_검색지수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257800" y="3575303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6A4F"/>
                </a:solidFill>
                <a:latin typeface="Calibri"/>
              </a:rPr>
              <a:t>트렌드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73752" y="384962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SHAP 9위 | VIF 1.62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775704" y="3282696"/>
            <a:ext cx="1901952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6848856" y="3355848"/>
            <a:ext cx="320040" cy="320040"/>
          </a:xfrm>
          <a:prstGeom prst="ellipse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848856" y="3374136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🚇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32904" y="3337560"/>
            <a:ext cx="138988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지하철_노선_수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32904" y="3575303"/>
            <a:ext cx="138988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6A4F"/>
                </a:solidFill>
                <a:latin typeface="Calibri"/>
              </a:rPr>
              <a:t>접근성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48856" y="384962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SHAP 17위 | VIF 1.74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Track A: 수요 예측 모델 설계와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Demand Prediction Model Specification &amp; Diagnostics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2. Data &amp;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7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21792"/>
            <a:ext cx="36118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621792"/>
            <a:ext cx="3611880" cy="2743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2D"/>
                </a:solidFill>
                <a:latin typeface="Calibri"/>
              </a:rPr>
              <a:t>≡  Model Specification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93268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Dependent Variable (Y)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11556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log1p(카페·음료 업종 전체 매출)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2801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Independent Variables (X)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463039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1. 집객시설 수 (Infra)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627631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2. 총 직장 인구 수 (Work)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792223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3. 월 평균 소득 금액 (Income)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956815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4. 총 가구 수 (Resident)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12140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5. 카페 검색 지수 (Trend)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2860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6. 지하철 노선 수 (Access)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45059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Controls (Fixed Effects)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3347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Time FE(분기 더미) + Type FE(상권 유형)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926080"/>
            <a:ext cx="3429000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2962656"/>
            <a:ext cx="3611880" cy="27432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30352" y="2999232"/>
            <a:ext cx="219456" cy="219456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3017520"/>
            <a:ext cx="2194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298094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Validation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273552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Algorithm: Pooled OLS (Linear)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65576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4F8A"/>
                </a:solidFill>
                <a:latin typeface="Calibri"/>
              </a:rPr>
              <a:t>Cross-Validation: GroupKFold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657600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  (Groups = 상권 코드, n_splits = 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849624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Objective: OOF Residuals Extraction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041648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  "동일 상권 시계열 누수 차단"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621792"/>
            <a:ext cx="461772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160520" y="621792"/>
            <a:ext cx="1371600" cy="2560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60520" y="630936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9326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E9E9E"/>
                </a:solidFill>
                <a:latin typeface="Calibri"/>
              </a:rPr>
              <a:t>공급 포함 XGBoost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1170432"/>
            <a:ext cx="3474720" cy="2560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18120" y="1170432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E9E9E"/>
                </a:solidFill>
                <a:latin typeface="Calibri"/>
              </a:rPr>
              <a:t>R² = 0.9047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148132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4F8A"/>
                </a:solidFill>
                <a:latin typeface="Calibri"/>
              </a:rPr>
              <a:t>Track A (수요만, 공급 제외)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1719072"/>
            <a:ext cx="1536192" cy="25603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870448" y="171907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  <a:latin typeface="Calibri"/>
              </a:rPr>
              <a:t>R² = 0.4413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60520" y="2029968"/>
            <a:ext cx="4617720" cy="365760"/>
          </a:xfrm>
          <a:prstGeom prst="rect">
            <a:avLst/>
          </a:prstGeom>
          <a:solidFill>
            <a:srgbClr val="EBF4FB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251960" y="2057400"/>
            <a:ext cx="4434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4F8A"/>
                </a:solidFill>
                <a:latin typeface="Calibri"/>
              </a:rPr>
              <a:t>① Track A의 낮은 R²(0.44)는 공급변수 배제에 따른 의도된 결과임. 높으면 잔차 신호가 소멸되어 블루오션 탐지 불가.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60520" y="2487168"/>
            <a:ext cx="46177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160520" y="2487168"/>
            <a:ext cx="3200400" cy="256032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60520" y="2496312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Independence  단변량 R² Top10</a:t>
            </a:r>
          </a:p>
        </p:txBody>
      </p:sp>
      <p:pic>
        <p:nvPicPr>
          <p:cNvPr id="49" name="Picture 48" descr="40_univariate_r2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770632"/>
            <a:ext cx="4526280" cy="19385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Track B: 복합 공급부족 지수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Methodology Detail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2. Data &amp;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8 / 18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694944"/>
            <a:ext cx="310896" cy="310896"/>
          </a:xfrm>
          <a:prstGeom prst="ellipse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713232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676656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2D"/>
                </a:solidFill>
                <a:latin typeface="Calibri"/>
              </a:rPr>
              <a:t>지수 설계 목적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969264"/>
            <a:ext cx="4480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단순히 '찻집이 없는 곳'을 찾는 것이 아니라,
①절대적 부재와 ②상대적 희소성을 동시에 평가하여
공급 공백의 강도를 입체적으로 측정.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173736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1700784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4F8A"/>
                </a:solidFill>
                <a:latin typeface="Calibri"/>
              </a:rPr>
              <a:t>요소 1: 절대적 희소성 (Weight 0.5)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1993392"/>
            <a:ext cx="4480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수식: 1 / (찻집수 + 1)
찻집이 0개인 곳에 최대 점수 부여.
가장 직접적인 '부재' 신호 측정.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" y="2743200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76148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2724912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요소 2: 경쟁 속 성과 (Weight 0.5)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017520"/>
            <a:ext cx="4480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수식: 찻집매출 / (카페점포수 + 1)
카페 경쟁이 치열한 곳에서도 찻집이 생존한다면,
그 희소 가치를 높게 평가 (니치 마켓 검증).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694176"/>
            <a:ext cx="4983480" cy="1060704"/>
          </a:xfrm>
          <a:prstGeom prst="rect">
            <a:avLst/>
          </a:prstGeom>
          <a:solidFill>
            <a:srgbClr val="E8F4F0"/>
          </a:solidFill>
          <a:ln w="9525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7200" y="3767328"/>
            <a:ext cx="310896" cy="310896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3785615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749039"/>
            <a:ext cx="4434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Rank 변환 및 민감도 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041648"/>
            <a:ext cx="44805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스케일이 다른 두 지표를 백분위수(Rank)로 변환 후 합산.
가중치(0.1~0.9) 변화에도 Top5 순위 일관성 확인 완료.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2120" y="621792"/>
            <a:ext cx="3246120" cy="822960"/>
          </a:xfrm>
          <a:prstGeom prst="rect">
            <a:avLst/>
          </a:prstGeom>
          <a:solidFill>
            <a:srgbClr val="EBF4FB"/>
          </a:solidFill>
          <a:ln w="9525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532120" y="621792"/>
            <a:ext cx="54864" cy="8229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50992" y="640080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E9E9E"/>
                </a:solidFill>
                <a:latin typeface="Calibri"/>
              </a:rPr>
              <a:t>COMPONENT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0992" y="82296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  <a:latin typeface="Consolas"/>
              </a:rPr>
              <a:t>Scarcity Score = Rank [ 1 / (Teahouse + 1)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32120" y="1554480"/>
            <a:ext cx="3246120" cy="822960"/>
          </a:xfrm>
          <a:prstGeom prst="rect">
            <a:avLst/>
          </a:prstGeom>
          <a:solidFill>
            <a:srgbClr val="EBF4FB"/>
          </a:solidFill>
          <a:ln w="9525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532120" y="1554480"/>
            <a:ext cx="54864" cy="8229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50992" y="1572768"/>
            <a:ext cx="3017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E9E9E"/>
                </a:solidFill>
                <a:latin typeface="Calibri"/>
              </a:rPr>
              <a:t>COMPONENT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50992" y="175564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  <a:latin typeface="Consolas"/>
              </a:rPr>
              <a:t>Performance = Rank [ Sales / (Cafe + 1) 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2487168"/>
            <a:ext cx="3246120" cy="804672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50992" y="250545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7BC62"/>
                </a:solidFill>
                <a:latin typeface="Calibri"/>
              </a:rPr>
              <a:t>FINAL SUPPLY GAP INDEX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272491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0.5 × Scarcity  +  0.5 × Performance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532120" y="3401568"/>
            <a:ext cx="3246120" cy="1371600"/>
          </a:xfrm>
          <a:prstGeom prst="rect">
            <a:avLst/>
          </a:prstGeom>
          <a:solidFill>
            <a:srgbClr val="FFF3F3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23560" y="343814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⚠  Methodological Limitation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23560" y="3712463"/>
            <a:ext cx="3063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  <a:latin typeface="Calibri"/>
              </a:rPr>
              <a:t>요소 2의 분자에 '찻집매출'이 포함되어,
찻집이 없는 곳(매출=0)이 낮은 점수를 받을 위험 존재.
→ Rank 변환 및 요소 1과의 결합으로 상쇄.
향후 '카페점포수/(찻집수+1)' 형태로 개선 고려.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2-Track 통합: 블루오션 정의와 랭킹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Methodology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3. Results &amp;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9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21792"/>
            <a:ext cx="4754880" cy="2560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40080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2D"/>
                </a:solidFill>
                <a:latin typeface="Calibri"/>
              </a:rPr>
              <a:t>2D 매트릭스 축(Axis) 정의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914400"/>
            <a:ext cx="164592" cy="82296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80" y="100584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144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  <a:latin typeface="Calibri"/>
              </a:rPr>
              <a:t>OOF 잔차 (Demand Gap)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1430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수요 예측 모델의 잔차
  양수(+) = 수요 대비 매출 과성과
  음수(–) = 수요 대비 매출 저성과 (미실현)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28800"/>
            <a:ext cx="164592" cy="822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1920240"/>
            <a:ext cx="164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82880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공급부족지수 (Supply Gap)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20574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복합 공급 부족 지수 (0~1 정규화)
  높음(+) = 찻집 공급 공백 큼
  낮음(–) = 찻집 공급 포화 상태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43200"/>
            <a:ext cx="4754880" cy="25603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276148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3A2D"/>
                </a:solidFill>
                <a:latin typeface="Calibri"/>
              </a:rPr>
              <a:t>4개 사분면(Quadrant) 전략적 의미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3063240"/>
            <a:ext cx="457200" cy="20116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307238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" y="30632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4F8A"/>
                </a:solidFill>
                <a:latin typeface="Calibri"/>
              </a:rPr>
              <a:t>검증시장공백 (안전진입)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3063240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수요 검증됨 + 찻집만 없음  ★ Best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3310128"/>
            <a:ext cx="457200" cy="20116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" y="33192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" y="33101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잠재수요미실현 (선점투자)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27248" y="3310128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잠재력 높음 + 시장 미형성  ★ High Return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3557016"/>
            <a:ext cx="457200" cy="201168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8912" y="35661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" y="35570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9E9E"/>
                </a:solidFill>
                <a:latin typeface="Calibri"/>
              </a:rPr>
              <a:t>저성과·포화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27248" y="3557016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수요·성과 모두 낮음 → Avoid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8912" y="3803904"/>
            <a:ext cx="457200" cy="20116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" y="38130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" y="380390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DBDBD"/>
                </a:solidFill>
                <a:latin typeface="Calibri"/>
              </a:rPr>
              <a:t>레드오션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27248" y="3803904"/>
            <a:ext cx="19933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성과 좋으나 경쟁 치열 → Risk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069080"/>
            <a:ext cx="4754880" cy="658368"/>
          </a:xfrm>
          <a:prstGeom prst="rect">
            <a:avLst/>
          </a:prstGeom>
          <a:solidFill>
            <a:srgbClr val="E8F4F0"/>
          </a:solidFill>
          <a:ln w="9525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409651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A4F"/>
                </a:solidFill>
                <a:latin typeface="Calibri"/>
              </a:rPr>
              <a:t>✅  컷오프(Cutoff) 기준 정당화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" y="43159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X축 기준(0): 모델 예측=실제가 일치하는 자연적 경계선
Y축 기준(중앙값): 전체 상권 중 상대적 상위 50% 희소성 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21808" y="621792"/>
            <a:ext cx="3493008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321808" y="621792"/>
            <a:ext cx="2011680" cy="256032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367528" y="63093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2D Matrix Preview</a:t>
            </a:r>
          </a:p>
        </p:txBody>
      </p:sp>
      <p:pic>
        <p:nvPicPr>
          <p:cNvPr id="45" name="Picture 44" descr="35_2d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896112"/>
            <a:ext cx="3401568" cy="376732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5394960" y="960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Q2 잠재수요
미실현 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9601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8A"/>
                </a:solidFill>
                <a:latin typeface="Calibri"/>
              </a:rPr>
              <a:t>Q1 검증시장
공백 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핵심 결과: 2D 매트릭스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Key Findings: Quadrant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3. Results &amp;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10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21792"/>
            <a:ext cx="20299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621792"/>
            <a:ext cx="2029968" cy="91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7315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★ Q2  잠재수요 미실현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932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C0392B"/>
                </a:solidFill>
                <a:latin typeface="Georgia"/>
              </a:rPr>
              <a:t>444개 상권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1298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수요 High / 공급 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621792"/>
            <a:ext cx="20299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68880" y="621792"/>
            <a:ext cx="2029968" cy="91440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60320" y="7315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8A"/>
                </a:solidFill>
                <a:latin typeface="Calibri"/>
              </a:rPr>
              <a:t>★ Q1  검증시장 공백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932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B4F8A"/>
                </a:solidFill>
                <a:latin typeface="Georgia"/>
              </a:rPr>
              <a:t>475개 상권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1298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수요 High / 공급 Mid-Low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621792"/>
            <a:ext cx="20299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17720" y="621792"/>
            <a:ext cx="2029968" cy="9144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59" y="7315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E9E9E"/>
                </a:solidFill>
                <a:latin typeface="Calibri"/>
              </a:rPr>
              <a:t>Q3  저성과·포화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932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9E9E9E"/>
                </a:solidFill>
                <a:latin typeface="Georgia"/>
              </a:rPr>
              <a:t> 40개 상권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1298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수요 Low / 공급 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621792"/>
            <a:ext cx="2029968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766560" y="621792"/>
            <a:ext cx="2029968" cy="9144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73152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DBDBD"/>
                </a:solidFill>
                <a:latin typeface="Calibri"/>
              </a:rPr>
              <a:t>Q4  레드오션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9326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BDBDBD"/>
                </a:solidFill>
                <a:latin typeface="Georgia"/>
              </a:rPr>
              <a:t> 77개 상권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2984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수요 Low / 공급 과잉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1600200"/>
            <a:ext cx="85953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35_2d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0"/>
            <a:ext cx="850392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Q1 추천 — 안전 진입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Verified Market Gap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3. Results &amp;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11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21792"/>
            <a:ext cx="8321040" cy="713232"/>
          </a:xfrm>
          <a:prstGeom prst="rect">
            <a:avLst/>
          </a:prstGeom>
          <a:solidFill>
            <a:srgbClr val="EBF4FB"/>
          </a:solidFill>
          <a:ln w="1270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621792"/>
            <a:ext cx="64008" cy="71323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8640" y="749808"/>
            <a:ext cx="310896" cy="310896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76809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6400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4F8A"/>
                </a:solidFill>
                <a:latin typeface="Calibri"/>
              </a:rPr>
              <a:t>전략 개념: 검증된 시장 + 공급 공백 = LOW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9144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4F8A"/>
                </a:solidFill>
                <a:latin typeface="Calibri"/>
              </a:rPr>
              <a:t>이미 활성화된 음료 소비 시장(검증됨)이나 찻집 공급만이 부재한 상권. 수요 불확실성이 낮아 안정적 창업을 선호하는 초기 진입자에게 적합.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444752"/>
            <a:ext cx="507492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146304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순위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1463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상권명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3744" y="1463040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OOF 잔차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1463040"/>
            <a:ext cx="7498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공급점수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1463040"/>
            <a:ext cx="1325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특징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1737360"/>
            <a:ext cx="5074920" cy="420624"/>
          </a:xfrm>
          <a:prstGeom prst="rect">
            <a:avLst/>
          </a:prstGeom>
          <a:solidFill>
            <a:srgbClr val="EBF4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7200" y="1810512"/>
            <a:ext cx="274320" cy="27432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1828800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홍대소상공인상점가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23744" y="1828800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8A"/>
                </a:solidFill>
                <a:latin typeface="Calibri"/>
              </a:rPr>
              <a:t>+3.231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28416" y="1828800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8A"/>
                </a:solidFill>
                <a:latin typeface="Calibri"/>
              </a:rPr>
              <a:t>0.751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1810512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전통시장, 집객 상위 97%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176272"/>
            <a:ext cx="5074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2249424"/>
            <a:ext cx="274320" cy="27432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226771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2267712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외대앞역 1번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23744" y="2267712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8A"/>
                </a:solidFill>
                <a:latin typeface="Calibri"/>
              </a:rPr>
              <a:t>+3.198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28416" y="226771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8A"/>
                </a:solidFill>
                <a:latin typeface="Calibri"/>
              </a:rPr>
              <a:t>0.767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2249424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골목상권, 지하철 접근성↑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615184"/>
            <a:ext cx="5074920" cy="420624"/>
          </a:xfrm>
          <a:prstGeom prst="rect">
            <a:avLst/>
          </a:prstGeom>
          <a:solidFill>
            <a:srgbClr val="EBF4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57200" y="2688336"/>
            <a:ext cx="274320" cy="27432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270662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2706624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성신여대입구역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23744" y="2706624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8A"/>
                </a:solidFill>
                <a:latin typeface="Calibri"/>
              </a:rPr>
              <a:t>+3.179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28416" y="2706624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8A"/>
                </a:solidFill>
                <a:latin typeface="Calibri"/>
              </a:rPr>
              <a:t>0.771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2688336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대학가, 직장인구 상위 46%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054096"/>
            <a:ext cx="5074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3127248"/>
            <a:ext cx="274320" cy="27432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3145536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4위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" y="314553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광나루역 1번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23744" y="314553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8A"/>
                </a:solidFill>
                <a:latin typeface="Calibri"/>
              </a:rPr>
              <a:t>+3.136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28416" y="3145536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8A"/>
                </a:solidFill>
                <a:latin typeface="Calibri"/>
              </a:rPr>
              <a:t>0.766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0" y="3127248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주거밀집, 소득 상위 21%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3493008"/>
            <a:ext cx="5074920" cy="420624"/>
          </a:xfrm>
          <a:prstGeom prst="rect">
            <a:avLst/>
          </a:prstGeom>
          <a:solidFill>
            <a:srgbClr val="EBF4F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57200" y="3566160"/>
            <a:ext cx="274320" cy="27432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3584448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5위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" y="3584448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경향신문사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523744" y="3584448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8A"/>
                </a:solidFill>
                <a:latin typeface="Calibri"/>
              </a:rPr>
              <a:t>+2.966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8416" y="3584448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4F8A"/>
                </a:solidFill>
                <a:latin typeface="Calibri"/>
              </a:rPr>
              <a:t>0.765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0" y="356616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오피스, 직장인구 상위 21%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3840480"/>
            <a:ext cx="5074920" cy="621792"/>
          </a:xfrm>
          <a:prstGeom prst="rect">
            <a:avLst/>
          </a:prstGeom>
          <a:solidFill>
            <a:srgbClr val="EBF4FB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30352" y="386791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4F8A"/>
                </a:solidFill>
                <a:latin typeface="Calibri"/>
              </a:rPr>
              <a:t>🔍  공통 패턴 분석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411480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대학가/오피스 배후지의 골목상권 및 전통시장 기반.
상주 소비층(직장/거주)이 탄탄하여 평일·주말 매출 방어가 유리한 구조.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444752"/>
            <a:ext cx="32461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577840" y="1444752"/>
            <a:ext cx="3246120" cy="25603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23559" y="1453896"/>
            <a:ext cx="3154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Q1 / Q2 수요 변수 강점 분석 (Radar)</a:t>
            </a:r>
          </a:p>
        </p:txBody>
      </p:sp>
      <p:pic>
        <p:nvPicPr>
          <p:cNvPr id="64" name="Picture 63" descr="37_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719072"/>
            <a:ext cx="31546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Q2 추천 — 선점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Preemptive Strategy for High-Potential Markets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3. Results &amp;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12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21792"/>
            <a:ext cx="8321040" cy="713232"/>
          </a:xfrm>
          <a:prstGeom prst="rect">
            <a:avLst/>
          </a:prstGeom>
          <a:solidFill>
            <a:srgbClr val="FDEC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621792"/>
            <a:ext cx="64008" cy="7132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8640" y="749808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76809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6400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전략 개념: 잠재수요 미실현 (High Risk, High Return)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914400"/>
            <a:ext cx="7132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392B"/>
                </a:solidFill>
                <a:latin typeface="Calibri"/>
              </a:rPr>
              <a:t>수요 지표는 압도적이나 찻집 공급이 없어 아직 매출로 실현되지 않은 상권. 초기 진입 시 독점적 지위를 누릴 수 있으나, 수요 현장 검증이 필요함.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444752"/>
            <a:ext cx="507492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1463040"/>
            <a:ext cx="3840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순위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146304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상권명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95144" y="146304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공급점수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146304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OOF 잔차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1463040"/>
            <a:ext cx="1472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특징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1737360"/>
            <a:ext cx="5074920" cy="420624"/>
          </a:xfrm>
          <a:prstGeom prst="rect">
            <a:avLst/>
          </a:prstGeom>
          <a:solidFill>
            <a:srgbClr val="FDECE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57200" y="1810512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182880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182880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서울역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95144" y="182880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0.770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27248" y="1828800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-0.350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8496" y="1810512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집객 상위 3%, 직장인구 상위 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176272"/>
            <a:ext cx="5074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57200" y="2249424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226771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2위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226771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대치역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95144" y="226771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0.769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27248" y="2267712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-1.005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68496" y="2249424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소득 상위 0%, 집객 상위 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2615184"/>
            <a:ext cx="5074920" cy="420624"/>
          </a:xfrm>
          <a:prstGeom prst="rect">
            <a:avLst/>
          </a:prstGeom>
          <a:solidFill>
            <a:srgbClr val="FDECE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57200" y="2688336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270662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3위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27066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상봉역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95144" y="270662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0.762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27248" y="2706624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-0.017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68496" y="2688336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가구수 상위 9%, 지하철 상위 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054096"/>
            <a:ext cx="5074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57200" y="3127248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3145536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4위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" y="31455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충정로역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95144" y="3145536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0.760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27248" y="3145536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-0.100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68496" y="3127248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소득 상위 3%, 직장인구 상위 18%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3493008"/>
            <a:ext cx="5074920" cy="420624"/>
          </a:xfrm>
          <a:prstGeom prst="rect">
            <a:avLst/>
          </a:prstGeom>
          <a:solidFill>
            <a:srgbClr val="FDECE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457200" y="3566160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3584448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5위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" y="358444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응암역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95144" y="358444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0.758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27248" y="3584448"/>
            <a:ext cx="8046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  <a:latin typeface="Calibri"/>
              </a:rPr>
              <a:t>-0.095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68496" y="3566160"/>
            <a:ext cx="1444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전반적 중상위권 균형형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1480" y="3840480"/>
            <a:ext cx="5074920" cy="621792"/>
          </a:xfrm>
          <a:prstGeom prst="rect">
            <a:avLst/>
          </a:prstGeom>
          <a:solidFill>
            <a:srgbClr val="FDECEC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30352" y="3867912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🔍  구조적 미실현 판단 기준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30352" y="411480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• 9분기 잔차 일관성: 일시적 하락이 아닌 지속적 음수 잔차 확인
• 수요 요인 건강성: 유동인구/소득 등 핵심 지표 상위 10% 이내
• 공급 공백 원인: 임대료·규제 등 진입 장벽 여부 현장 확인 권장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77840" y="1444752"/>
            <a:ext cx="32461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577840" y="1444752"/>
            <a:ext cx="3246120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23559" y="1453896"/>
            <a:ext cx="31546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Q1/Q2 Top5  9분기 OOF 잔차 추세</a:t>
            </a:r>
          </a:p>
        </p:txBody>
      </p:sp>
      <p:pic>
        <p:nvPicPr>
          <p:cNvPr id="64" name="Picture 63" descr="37_residual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719072"/>
            <a:ext cx="3154680" cy="2697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리스크 성향별 전략 제언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Strategy Recommendation by Risk Profile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3. Results &amp;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13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21792"/>
            <a:ext cx="3840480" cy="3547872"/>
          </a:xfrm>
          <a:prstGeom prst="rect">
            <a:avLst/>
          </a:prstGeom>
          <a:solidFill>
            <a:srgbClr val="FFFFFF"/>
          </a:solidFill>
          <a:ln w="190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621792"/>
            <a:ext cx="3840480" cy="43891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583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🛡  Q1 — 안전 진입 전략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133856"/>
            <a:ext cx="960120" cy="228600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15214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4F8A"/>
                </a:solidFill>
                <a:latin typeface="Calibri"/>
              </a:rPr>
              <a:t>잔차 방향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1152144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2D"/>
                </a:solidFill>
                <a:latin typeface="Calibri"/>
              </a:rPr>
              <a:t>+2.9 ~ +3.2  (양수)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09344"/>
            <a:ext cx="960120" cy="228600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162763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4F8A"/>
                </a:solidFill>
                <a:latin typeface="Calibri"/>
              </a:rPr>
              <a:t>상권 유형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162763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2D"/>
                </a:solidFill>
                <a:latin typeface="Calibri"/>
              </a:rPr>
              <a:t>골목·전통시장 배후지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084832"/>
            <a:ext cx="960120" cy="228600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210312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4F8A"/>
                </a:solidFill>
                <a:latin typeface="Calibri"/>
              </a:rPr>
              <a:t>수요 특성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210312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2D"/>
                </a:solidFill>
                <a:latin typeface="Calibri"/>
              </a:rPr>
              <a:t>상주 소비층 (가구·직장인구)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60320"/>
            <a:ext cx="960120" cy="228600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5786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4F8A"/>
                </a:solidFill>
                <a:latin typeface="Calibri"/>
              </a:rPr>
              <a:t>리스크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257860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2D"/>
                </a:solidFill>
                <a:latin typeface="Calibri"/>
              </a:rPr>
              <a:t>낮음  (시장 검증 완료)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35808"/>
            <a:ext cx="960120" cy="228600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054096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4F8A"/>
                </a:solidFill>
                <a:latin typeface="Calibri"/>
              </a:rPr>
              <a:t>추천 대상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305409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2D"/>
                </a:solidFill>
                <a:latin typeface="Calibri"/>
              </a:rPr>
              <a:t>안정적 창업 선호자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11296"/>
            <a:ext cx="960120" cy="228600"/>
          </a:xfrm>
          <a:prstGeom prst="rect">
            <a:avLst/>
          </a:prstGeom>
          <a:solidFill>
            <a:srgbClr val="EB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52958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B4F8A"/>
                </a:solidFill>
                <a:latin typeface="Calibri"/>
              </a:rPr>
              <a:t>Top 상권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3529584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2D"/>
                </a:solidFill>
                <a:latin typeface="Calibri"/>
              </a:rPr>
              <a:t>홍대소상공인, 외대앞역,
성신여대입구역</a:t>
            </a:r>
          </a:p>
        </p:txBody>
      </p:sp>
      <p:sp>
        <p:nvSpPr>
          <p:cNvPr id="32" name="Oval 31"/>
          <p:cNvSpPr/>
          <p:nvPr/>
        </p:nvSpPr>
        <p:spPr>
          <a:xfrm>
            <a:off x="4261104" y="1965960"/>
            <a:ext cx="621792" cy="621792"/>
          </a:xfrm>
          <a:prstGeom prst="ellipse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61104" y="2029968"/>
            <a:ext cx="62179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VS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621792"/>
            <a:ext cx="3840480" cy="3547872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937760" y="621792"/>
            <a:ext cx="3840480" cy="4389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74920" y="6583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🚀  Q2 — 선점 전략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1133856"/>
            <a:ext cx="960120" cy="2286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0" y="115214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잔차 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1152144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2D"/>
                </a:solidFill>
                <a:latin typeface="Calibri"/>
              </a:rPr>
              <a:t>-0.0 ~ -1.0  (음수)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0" y="1609344"/>
            <a:ext cx="960120" cy="2286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029200" y="162763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상권 유형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53328" y="162763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2D"/>
                </a:solidFill>
                <a:latin typeface="Calibri"/>
              </a:rPr>
              <a:t>발달상권·교통 허브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2084832"/>
            <a:ext cx="960120" cy="2286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0" y="2103120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수요 특성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53328" y="210312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2D"/>
                </a:solidFill>
                <a:latin typeface="Calibri"/>
              </a:rPr>
              <a:t>유동·직장인구 압도적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2560320"/>
            <a:ext cx="960120" cy="2286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0" y="2578608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리스크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53328" y="257860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2D"/>
                </a:solidFill>
                <a:latin typeface="Calibri"/>
              </a:rPr>
              <a:t>높음  (수요 미개척)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0" y="3035808"/>
            <a:ext cx="960120" cy="2286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0" y="3054096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추천 대상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53328" y="305409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2D"/>
                </a:solidFill>
                <a:latin typeface="Calibri"/>
              </a:rPr>
              <a:t>선점 기회 추구자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0" y="3511296"/>
            <a:ext cx="960120" cy="228600"/>
          </a:xfrm>
          <a:prstGeom prst="rect">
            <a:avLst/>
          </a:prstGeom>
          <a:solidFill>
            <a:srgbClr val="FD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0" y="352958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392B"/>
                </a:solidFill>
                <a:latin typeface="Calibri"/>
              </a:rPr>
              <a:t>Top 상권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53328" y="3529584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B3A2D"/>
                </a:solidFill>
                <a:latin typeface="Calibri"/>
              </a:rPr>
              <a:t>서울역, 대치역,
상봉역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224528"/>
            <a:ext cx="8412480" cy="658368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8640" y="4251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7BC62"/>
                </a:solidFill>
                <a:latin typeface="Calibri"/>
              </a:rPr>
              <a:t>💼  균형 전략 제안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45079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4E6D0"/>
                </a:solidFill>
                <a:latin typeface="Calibri"/>
              </a:rPr>
              <a:t>Q1 Top3 + Q2 Top2 포트폴리오 검토를 권장. 리스크 분산과 선점 기회를 동시에 확보하는 투 트랙 진입 전략.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669280" y="4279392"/>
            <a:ext cx="3017520" cy="502920"/>
          </a:xfrm>
          <a:prstGeom prst="rect">
            <a:avLst/>
          </a:prstGeom>
          <a:solidFill>
            <a:srgbClr val="243D33"/>
          </a:solidFill>
          <a:ln w="63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742432" y="429768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CC80"/>
                </a:solidFill>
                <a:latin typeface="Calibri"/>
              </a:rPr>
              <a:t>⚠  본 분석은 상권 단위 집계 데이터 기반.
실제 점포 위치(임대료·건물 유형)는 현장 조사 필수.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방법론 신뢰성 검증 — Robustness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Methodology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3. Results &amp;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14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21792"/>
            <a:ext cx="420624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621792"/>
            <a:ext cx="3474720" cy="25603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30936"/>
            <a:ext cx="33832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Parameter Sensitivity  가중치 민감도 분석</a:t>
            </a:r>
          </a:p>
        </p:txBody>
      </p:sp>
      <p:pic>
        <p:nvPicPr>
          <p:cNvPr id="14" name="Picture 13" descr="39_sensitivity_overl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96112"/>
            <a:ext cx="4114800" cy="29718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11480" y="3968496"/>
            <a:ext cx="4206240" cy="530352"/>
          </a:xfrm>
          <a:prstGeom prst="rect">
            <a:avLst/>
          </a:prstGeom>
          <a:solidFill>
            <a:srgbClr val="E8F4F0"/>
          </a:solidFill>
          <a:ln w="63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3995928"/>
            <a:ext cx="3977639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6A4F"/>
                </a:solidFill>
                <a:latin typeface="Calibri"/>
              </a:rPr>
              <a:t>✅  가중치(0.1~0.9) 변화 시나리오 테스트 결과,
Q1 Top5 상권 80% 이상 일치 → 추천 결과가 매우 견고(Robust)함.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621792"/>
            <a:ext cx="4041648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754880" y="621792"/>
            <a:ext cx="2011680" cy="256032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630936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Validation Summary</a:t>
            </a:r>
          </a:p>
        </p:txBody>
      </p:sp>
      <p:sp>
        <p:nvSpPr>
          <p:cNvPr id="20" name="Oval 19"/>
          <p:cNvSpPr/>
          <p:nvPr/>
        </p:nvSpPr>
        <p:spPr>
          <a:xfrm>
            <a:off x="4828032" y="932688"/>
            <a:ext cx="256032" cy="256032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28032" y="950976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93268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6A4F"/>
                </a:solidFill>
                <a:latin typeface="Calibri"/>
              </a:rPr>
              <a:t>가중치 Robustness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1152144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0.5/0.5는 극단값 아닌
안정적 중앙값</a:t>
            </a:r>
          </a:p>
        </p:txBody>
      </p:sp>
      <p:sp>
        <p:nvSpPr>
          <p:cNvPr id="24" name="Oval 23"/>
          <p:cNvSpPr/>
          <p:nvPr/>
        </p:nvSpPr>
        <p:spPr>
          <a:xfrm>
            <a:off x="6821424" y="932688"/>
            <a:ext cx="256032" cy="256032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21424" y="950976"/>
            <a:ext cx="256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41464" y="93268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4F8A"/>
                </a:solidFill>
                <a:latin typeface="Calibri"/>
              </a:rPr>
              <a:t>이상치 처리 타당성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1464" y="1152144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명동 제외 → 모델 일반화
성능 향상 확인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0" y="2240280"/>
            <a:ext cx="404164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2240280"/>
            <a:ext cx="3200400" cy="256032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00600" y="22494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Independence  단변량 R² 구조 검증</a:t>
            </a:r>
          </a:p>
        </p:txBody>
      </p:sp>
      <p:pic>
        <p:nvPicPr>
          <p:cNvPr id="31" name="Picture 30" descr="40_univariate_r2_to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514600"/>
            <a:ext cx="3950208" cy="135331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754880" y="3968496"/>
            <a:ext cx="4041648" cy="530352"/>
          </a:xfrm>
          <a:prstGeom prst="rect">
            <a:avLst/>
          </a:prstGeom>
          <a:solidFill>
            <a:srgbClr val="EBF4FB"/>
          </a:solidFill>
          <a:ln w="6350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0" y="3995928"/>
            <a:ext cx="3886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4F8A"/>
                </a:solidFill>
                <a:latin typeface="Calibri"/>
              </a:rPr>
              <a:t>공급변수 제외 후에도 수요 변수(집객시설 R²=0.30, 직장인구 R²=0.29)가
유의미한 설명력 보유 → Track A 잔차의 신호 신뢰도 뒷받침.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구조적 블루오션 vs 일시적 이상치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Structural Blue Ocean vs. Transient Outliers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3. Results &amp;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15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58368"/>
            <a:ext cx="43434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1B4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658368"/>
            <a:ext cx="54864" cy="896112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30352" y="731519"/>
            <a:ext cx="292608" cy="292608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749808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기준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713232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  <a:latin typeface="Calibri"/>
              </a:rPr>
              <a:t>9분기 잔차 일관성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969264"/>
            <a:ext cx="3749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일시적 매출 급등(이벤트 등)이 아닌,
9분기에 걸쳐 지속적인 수요 대비 공급 부족 상태인지 확인.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627632"/>
            <a:ext cx="43434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1627632"/>
            <a:ext cx="54864" cy="89611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30352" y="1700784"/>
            <a:ext cx="292608" cy="292608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1719072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기준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1682496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레이더 차트의 근본 수요 강건성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1938528"/>
            <a:ext cx="3749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단일 변수(일시적 유동인구 폭증)에 의존도가 낮고,
직장/거주/소득 등 구조적 기반이 탄탄한지 검증.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596896"/>
            <a:ext cx="4343400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1B3A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1480" y="2596896"/>
            <a:ext cx="54864" cy="896112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30352" y="2670048"/>
            <a:ext cx="292608" cy="292608"/>
          </a:xfrm>
          <a:prstGeom prst="ellipse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" y="2688336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기준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2651760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2D"/>
                </a:solidFill>
                <a:latin typeface="Calibri"/>
              </a:rPr>
              <a:t>상권 유형의 일관성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2907791"/>
            <a:ext cx="37490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해당 상권 유형(골목/발달 등) 내에서
지속적으로 상위 성과를 유지하는지 확인.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675887"/>
            <a:ext cx="4343400" cy="548640"/>
          </a:xfrm>
          <a:prstGeom prst="rect">
            <a:avLst/>
          </a:prstGeom>
          <a:solidFill>
            <a:srgbClr val="E8F4F0"/>
          </a:solidFill>
          <a:ln w="9525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370332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A4F"/>
                </a:solidFill>
                <a:latin typeface="Calibri"/>
              </a:rPr>
              <a:t>구조적 강건성(Structural Robustness)의 의미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39319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진정한 블루오션은 계절·경기 변동에도 수요가 꾸준히 공급을 압도하는 곳.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4279392"/>
            <a:ext cx="4343400" cy="512064"/>
          </a:xfrm>
          <a:prstGeom prst="rect">
            <a:avLst/>
          </a:prstGeom>
          <a:solidFill>
            <a:srgbClr val="FFF3F3"/>
          </a:solidFill>
          <a:ln w="9525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315968"/>
            <a:ext cx="4160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  <a:latin typeface="Calibri"/>
              </a:rPr>
              <a:t>⚠  경계 케이스(Borderline)는 반드시 임장(현장 방문)으로
물리적 제약 요인(경사도, 노후도, 임대료 등) 확인 권장.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19472" y="621792"/>
            <a:ext cx="3886200" cy="4169663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919472" y="621792"/>
            <a:ext cx="3886200" cy="256032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65192" y="630936"/>
            <a:ext cx="3794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단변량 R² Top10 — 구조적 블루오션 근거</a:t>
            </a:r>
          </a:p>
        </p:txBody>
      </p:sp>
      <p:pic>
        <p:nvPicPr>
          <p:cNvPr id="37" name="Picture 36" descr="40_univariate_r2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896112"/>
            <a:ext cx="3794760" cy="38221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핵심 의사결정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Key Decisions &amp; Rationale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4.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16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21792"/>
            <a:ext cx="4983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621792"/>
            <a:ext cx="54864" cy="7498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30352" y="713232"/>
            <a:ext cx="274320" cy="2743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" y="73152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658368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E9E9E"/>
                </a:solidFill>
                <a:latin typeface="Calibri"/>
              </a:rPr>
              <a:t>TARGET VARIABLE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822960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Y = 카페·음료 업종 전체 매출 (log1p)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10789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찻집 매출 0 문제 해결. 시장 전체 TAM을 대리변수로 사용하여 잠재 수요 측정.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426464"/>
            <a:ext cx="4983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" y="1426464"/>
            <a:ext cx="54864" cy="7498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0352" y="1517904"/>
            <a:ext cx="274320" cy="27432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" y="153619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146304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E9E9E"/>
                </a:solidFill>
                <a:latin typeface="Calibri"/>
              </a:rPr>
              <a:t>FEATURE SELECTION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1627632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4F8A"/>
                </a:solidFill>
                <a:latin typeface="Calibri"/>
              </a:rPr>
              <a:t>SHAP Screening → Lasso → VIF (최종 6개)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188366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비선형 관련성과 선형 독립성을 교차 검증. 공급 변수를 의도적으로 배제.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231136"/>
            <a:ext cx="4983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1480" y="2231136"/>
            <a:ext cx="54864" cy="7498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30352" y="2322576"/>
            <a:ext cx="274320" cy="2743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234086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" y="2267712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E9E9E"/>
                </a:solidFill>
                <a:latin typeface="Calibri"/>
              </a:rPr>
              <a:t>MODELING STRATEGY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" y="2432304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4F"/>
                </a:solidFill>
                <a:latin typeface="Calibri"/>
              </a:rPr>
              <a:t>Pooled OLS + GroupKFold (OOF 잔차)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268833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해석 가능성(선형) 우선. 동일 상권 시계열 누수 차단으로 잔차 신뢰도 확보.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035808"/>
            <a:ext cx="4983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3035808"/>
            <a:ext cx="54864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30352" y="3127248"/>
            <a:ext cx="274320" cy="27432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352" y="3145536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3072384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E9E9E"/>
                </a:solidFill>
                <a:latin typeface="Calibri"/>
              </a:rPr>
              <a:t>SCORING LOGIC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" y="3236976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Calibri"/>
              </a:rPr>
              <a:t>2-Track: 수요 미실현(잔차) × 공급 부족(지수)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" y="349300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수요 예측 오차와 물리적 공급 공백을 독립 차원으로 평가하여 블루오션 정의.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840480"/>
            <a:ext cx="49834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11480" y="3840480"/>
            <a:ext cx="54864" cy="749808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30352" y="3931920"/>
            <a:ext cx="274320" cy="274320"/>
          </a:xfrm>
          <a:prstGeom prst="ellipse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0352" y="3950208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" y="3877056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E9E9E"/>
                </a:solidFill>
                <a:latin typeface="Calibri"/>
              </a:rPr>
              <a:t>FINAL STRATEGY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" y="404164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3A2D"/>
                </a:solidFill>
                <a:latin typeface="Calibri"/>
              </a:rPr>
              <a:t>Q1(안전 진입) vs Q2(선점 투자) 이원화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" y="42976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창업자의 리스크 성향에 따른 맞춤형 상권 제안. 포트폴리오 접근 권장.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32120" y="621792"/>
            <a:ext cx="3291840" cy="40416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532120" y="621792"/>
            <a:ext cx="2286000" cy="256032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577840" y="630936"/>
            <a:ext cx="2194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Analytic Process Flow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89320" y="896112"/>
            <a:ext cx="2377440" cy="292608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35040" y="91440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① Raw Data (9,760 × 155)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1298448"/>
            <a:ext cx="2377440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35040" y="13167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② SHAP Screening (22개)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89320" y="1700784"/>
            <a:ext cx="2377440" cy="2926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035040" y="17190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③ Lasso + VIF (최종 6개)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0" y="2176272"/>
            <a:ext cx="105156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715000" y="2194560"/>
            <a:ext cx="9601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Track A
OOF Residual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0" y="2176272"/>
            <a:ext cx="96012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903720" y="219456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Track B
Supply Gap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2788920"/>
            <a:ext cx="2377440" cy="384048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035040" y="28072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④ 2D Matrix
Integration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3310128"/>
            <a:ext cx="1051560" cy="292608"/>
          </a:xfrm>
          <a:prstGeom prst="rect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715000" y="3328416"/>
            <a:ext cx="9601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Q1
안전 진입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58000" y="3310128"/>
            <a:ext cx="960120" cy="2926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903720" y="332841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Q2
선점 투자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78040" y="12070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E9E9E"/>
                </a:solidFill>
                <a:latin typeface="Calibri"/>
              </a:rPr>
              <a:t>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78040" y="160934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E9E9E"/>
                </a:solidFill>
                <a:latin typeface="Calibri"/>
              </a:rPr>
              <a:t>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78040" y="24871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E9E9E"/>
                </a:solidFill>
                <a:latin typeface="Calibri"/>
              </a:rPr>
              <a:t>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66560" y="20299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E9E9E"/>
                </a:solidFill>
                <a:latin typeface="Calibri"/>
              </a:rPr>
              <a:t>↙  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66560" y="32004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E9E9E"/>
                </a:solidFill>
                <a:latin typeface="Calibri"/>
              </a:rPr>
              <a:t>↙  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2D"/>
                </a:solidFill>
                <a:latin typeface="Georgia"/>
              </a:rPr>
              <a:t>한계와 향후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64748B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BDBDBD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BDBDBD"/>
                </a:solidFill>
                <a:latin typeface="Calibri"/>
              </a:rPr>
              <a:t>4.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BDBDBD"/>
                </a:solidFill>
                <a:latin typeface="Calibri"/>
              </a:rPr>
              <a:t>17 / 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21792"/>
            <a:ext cx="4069080" cy="274320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4008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⚠  연구의 한계점 (Limitations)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960120"/>
            <a:ext cx="40690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8C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960120"/>
            <a:ext cx="54864" cy="8412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101498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설명력의 한계 (R² = 0.44)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271016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수요 외 56%의 미설명 분산 존재. 임대료, 건축 규제 등 데이터에 없는
미관측 요인이 잔차에 포함될 수 있음.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874519"/>
            <a:ext cx="40690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8C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1874519"/>
            <a:ext cx="54864" cy="8412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192938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공간 단위의 제약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185415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서울시 '상권' 단위(1,139개) 집계 데이터 사용.
개별 점포 위치나 도로변/이면도로 미시적 분석은 현장 조사 필수.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788920"/>
            <a:ext cx="40690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E8C5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2788920"/>
            <a:ext cx="54864" cy="8412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843784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0392B"/>
                </a:solidFill>
                <a:latin typeface="Calibri"/>
              </a:rPr>
              <a:t>시간적 외부 타당성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099815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2025년 3분기 데이터 기준 분석.
분석-창업 시점 간 시차 존재. 지속적 데이터 업데이트 필요.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49039"/>
            <a:ext cx="4069080" cy="566928"/>
          </a:xfrm>
          <a:prstGeom prst="rect">
            <a:avLst/>
          </a:prstGeom>
          <a:solidFill>
            <a:srgbClr val="E8F4F0"/>
          </a:solidFill>
          <a:ln w="9525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3785615"/>
            <a:ext cx="38404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6A4F"/>
                </a:solidFill>
                <a:latin typeface="Calibri"/>
              </a:rPr>
              <a:t>✅  본 연구는 정량적 스크리닝 도구로서의 가치를 가지며,
최종 의사결정은 반드시 현장 정성 평가와 병행되어야 함.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621792"/>
            <a:ext cx="4041648" cy="274320"/>
          </a:xfrm>
          <a:prstGeom prst="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28032" y="640080"/>
            <a:ext cx="3794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  <a:latin typeface="Calibri"/>
              </a:rPr>
              <a:t>🚀  향후 과제 (Future Work)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960120"/>
            <a:ext cx="4041648" cy="658368"/>
          </a:xfrm>
          <a:prstGeom prst="rect">
            <a:avLst/>
          </a:prstGeom>
          <a:solidFill>
            <a:srgbClr val="E8F4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773168" y="1033272"/>
            <a:ext cx="274320" cy="27432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73168" y="1051560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1014984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A4F"/>
                </a:solidFill>
                <a:latin typeface="Calibri"/>
              </a:rPr>
              <a:t>자동 업데이트 파이프라인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1252728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신규 분기 데이터 적재 시 자동 재분석 및 블루오션 랭킹 갱신 시스템 구축.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9160" y="1673352"/>
            <a:ext cx="4041648" cy="658368"/>
          </a:xfrm>
          <a:prstGeom prst="rect">
            <a:avLst/>
          </a:prstGeom>
          <a:solidFill>
            <a:srgbClr val="E8F4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773168" y="1746504"/>
            <a:ext cx="274320" cy="274320"/>
          </a:xfrm>
          <a:prstGeom prst="ellipse">
            <a:avLst/>
          </a:prstGeom>
          <a:solidFill>
            <a:srgbClr val="1B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73168" y="1764792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1728216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4F8A"/>
                </a:solidFill>
                <a:latin typeface="Calibri"/>
              </a:rPr>
              <a:t>Cluster SE 적용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1965960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상권별 자기상관을 고려한 견고한 표준오차 추정으로 통계적 신뢰도 향상.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2386584"/>
            <a:ext cx="4041648" cy="658368"/>
          </a:xfrm>
          <a:prstGeom prst="rect">
            <a:avLst/>
          </a:prstGeom>
          <a:solidFill>
            <a:srgbClr val="E8F4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773168" y="2459736"/>
            <a:ext cx="274320" cy="274320"/>
          </a:xfrm>
          <a:prstGeom prst="ellipse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773168" y="247802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2441448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2D"/>
                </a:solidFill>
                <a:latin typeface="Calibri"/>
              </a:rPr>
              <a:t>모델 고도화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20640" y="2679192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상권 유형별 세그먼트 분석 및 변수 간 상호작용(Interaction) 항 추가.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09160" y="3099816"/>
            <a:ext cx="4041648" cy="658368"/>
          </a:xfrm>
          <a:prstGeom prst="rect">
            <a:avLst/>
          </a:prstGeom>
          <a:solidFill>
            <a:srgbClr val="E8F4F0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773168" y="3172968"/>
            <a:ext cx="274320" cy="274320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773168" y="3191256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3154680"/>
            <a:ext cx="3520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6914"/>
                </a:solidFill>
                <a:latin typeface="Calibri"/>
              </a:rPr>
              <a:t>Tableau 대시보드 배포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3392424"/>
            <a:ext cx="3520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사용자가 직접 상권을 탐색·필터링 가능한 인터랙티브 시각화 도구 제공.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91440"/>
            <a:ext cx="64008" cy="4572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91440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예상 질문과 방어 논리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97BC62"/>
                </a:solidFill>
                <a:latin typeface="Calibri"/>
              </a:rPr>
              <a:t>Anticipated Critiques &amp;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1828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48646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7BC62"/>
                </a:solidFill>
                <a:latin typeface="Calibri"/>
              </a:rPr>
              <a:t>서울 찻집 블루오션 상권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864608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7BC62"/>
                </a:solidFill>
                <a:latin typeface="Calibri"/>
              </a:rPr>
              <a:t>4. Conclusion &amp;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6460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7BC62"/>
                </a:solidFill>
                <a:latin typeface="Calibri"/>
              </a:rPr>
              <a:t>18 /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4864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7BC62"/>
                </a:solidFill>
                <a:latin typeface="Calibri"/>
              </a:rPr>
              <a:t>교수님/발표 청중의 예상 크리틱 5개 — 미리 준비한 방어 논리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850392"/>
            <a:ext cx="4315968" cy="1261872"/>
          </a:xfrm>
          <a:prstGeom prst="rect">
            <a:avLst/>
          </a:prstGeom>
          <a:solidFill>
            <a:srgbClr val="243D33"/>
          </a:solidFill>
          <a:ln w="63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087026" y="923544"/>
            <a:ext cx="13716" cy="11155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905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★★★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1088136"/>
            <a:ext cx="164006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E9E9E"/>
                </a:solidFill>
                <a:latin typeface="Calibri"/>
              </a:rPr>
              <a:t>CRITIQUE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1252728"/>
            <a:ext cx="164006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E6D0"/>
                </a:solidFill>
                <a:latin typeface="Calibri"/>
              </a:rPr>
              <a:t>Q. "왜 Y변수가 찻집 매출이 아닌
카페·음료 전체 매출인가?"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6497" y="905256"/>
            <a:ext cx="233062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7BC62"/>
                </a:solidFill>
                <a:latin typeface="Calibri"/>
              </a:rPr>
              <a:t>DEFENSE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6497" y="1088136"/>
            <a:ext cx="233062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Zero-Inflation 해결: 찻집 없는 상권은 매출=0이므로 Y로 사용 불가. 음료시장 전체 크기(TAM)를 대리변수로 써서 잠재 수요를 측정하는 것이 목적에 부합.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6592" y="850392"/>
            <a:ext cx="4315968" cy="1261872"/>
          </a:xfrm>
          <a:prstGeom prst="rect">
            <a:avLst/>
          </a:prstGeom>
          <a:solidFill>
            <a:srgbClr val="243D33"/>
          </a:solidFill>
          <a:ln w="63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549298" y="923544"/>
            <a:ext cx="13716" cy="11155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9744" y="905256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9744" y="1088136"/>
            <a:ext cx="164006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E9E9E"/>
                </a:solidFill>
                <a:latin typeface="Calibri"/>
              </a:rPr>
              <a:t>CRITIQUE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9744" y="1252728"/>
            <a:ext cx="164006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E6D0"/>
                </a:solidFill>
                <a:latin typeface="Calibri"/>
              </a:rPr>
              <a:t>Q. "변수 선택과 학습에 동일 데이터를
써서 Data Leakage 아닌가?"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8769" y="905256"/>
            <a:ext cx="233062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7BC62"/>
                </a:solidFill>
                <a:latin typeface="Calibri"/>
              </a:rPr>
              <a:t>DEFENSE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08769" y="1088136"/>
            <a:ext cx="233062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목적이 예측 정확도가 아닌 '상권 간 상대 순위 스크리닝'임. OOF 잔차 추출 시 GroupKFold로 동일 상권 누수를 차단 → 순위 공정성 확보.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212848"/>
            <a:ext cx="4315968" cy="1261872"/>
          </a:xfrm>
          <a:prstGeom prst="rect">
            <a:avLst/>
          </a:prstGeom>
          <a:solidFill>
            <a:srgbClr val="243D33"/>
          </a:solidFill>
          <a:ln w="63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087026" y="2286000"/>
            <a:ext cx="13716" cy="11155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22677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★★★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2450591"/>
            <a:ext cx="164006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E9E9E"/>
                </a:solidFill>
                <a:latin typeface="Calibri"/>
              </a:rPr>
              <a:t>CRITIQUE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2615184"/>
            <a:ext cx="164006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E6D0"/>
                </a:solidFill>
                <a:latin typeface="Calibri"/>
              </a:rPr>
              <a:t>Q. "공급지수 2번째 요소에서
찻집이 없으면 점수가 0 아닌가?"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6497" y="2267712"/>
            <a:ext cx="233062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7BC62"/>
                </a:solidFill>
                <a:latin typeface="Calibri"/>
              </a:rPr>
              <a:t>DEFENSE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6497" y="2450591"/>
            <a:ext cx="233062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1번째 항(1/(찻집수+1))이 찻집 0개 상권에 최고점을 부여하여 상쇄. Robustness Check에서 가중치 변화에도 Top5 구성이 일관됨을 확인.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36592" y="2212848"/>
            <a:ext cx="4315968" cy="1261872"/>
          </a:xfrm>
          <a:prstGeom prst="rect">
            <a:avLst/>
          </a:prstGeom>
          <a:solidFill>
            <a:srgbClr val="243D33"/>
          </a:solidFill>
          <a:ln w="63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49298" y="2286000"/>
            <a:ext cx="13716" cy="11155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09744" y="226771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★★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9744" y="2450591"/>
            <a:ext cx="164006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E9E9E"/>
                </a:solidFill>
                <a:latin typeface="Calibri"/>
              </a:rPr>
              <a:t>CRITIQUE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9744" y="2615184"/>
            <a:ext cx="1640067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E6D0"/>
                </a:solidFill>
                <a:latin typeface="Calibri"/>
              </a:rPr>
              <a:t>Q. "Pooled OLS에서 패널 자기상관
문제는 어떻게 처리했나?"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8769" y="2267712"/>
            <a:ext cx="233062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7BC62"/>
                </a:solidFill>
                <a:latin typeface="Calibri"/>
              </a:rPr>
              <a:t>DEFENSE LOGIC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8769" y="2450591"/>
            <a:ext cx="233062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GroupKFold로 동일 상권 9개 분기를 통째로 Fold에서 제외하여 시계열 누수 차단. 향후 Cluster Standard Error 적용으로 표준오차 보정 계획.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575304"/>
            <a:ext cx="8595360" cy="1261872"/>
          </a:xfrm>
          <a:prstGeom prst="rect">
            <a:avLst/>
          </a:prstGeom>
          <a:solidFill>
            <a:srgbClr val="243D33"/>
          </a:solidFill>
          <a:ln w="63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884371" y="3648456"/>
            <a:ext cx="13716" cy="111556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47472" y="3630168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★★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3813048"/>
            <a:ext cx="32662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E9E9E"/>
                </a:solidFill>
                <a:latin typeface="Calibri"/>
              </a:rPr>
              <a:t>CRITIQUE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" y="3977640"/>
            <a:ext cx="326623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4E6D0"/>
                </a:solidFill>
                <a:latin typeface="Calibri"/>
              </a:rPr>
              <a:t>Q. "사분면을 나누는 Cut-off가
임의적이지 않은가?"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29430" y="3630168"/>
            <a:ext cx="464149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7BC62"/>
                </a:solidFill>
                <a:latin typeface="Calibri"/>
              </a:rPr>
              <a:t>DEFENSE LOGIC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29430" y="3813048"/>
            <a:ext cx="4641494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잔차=0은 예측=실제의 자연 경계선, Y축은 전체 중앙값 사용. 핵심은 경계선 부근이 아닌 '사분면 내 상위 랭킹'이므로 추천 결과 영향 제한적.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3146</Words>
  <Application>Microsoft Office PowerPoint</Application>
  <PresentationFormat>화면 슬라이드 쇼(16:9)</PresentationFormat>
  <Paragraphs>522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맑은 고딕</vt:lpstr>
      <vt:lpstr>Arial</vt:lpstr>
      <vt:lpstr>Calibri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Administrator</dc:creator>
  <cp:keywords/>
  <dc:description>generated using python-pptx</dc:description>
  <cp:lastModifiedBy>Administrator</cp:lastModifiedBy>
  <cp:revision>3</cp:revision>
  <dcterms:created xsi:type="dcterms:W3CDTF">2013-01-27T09:14:16Z</dcterms:created>
  <dcterms:modified xsi:type="dcterms:W3CDTF">2026-03-10T06:12:52Z</dcterms:modified>
  <cp:category/>
</cp:coreProperties>
</file>